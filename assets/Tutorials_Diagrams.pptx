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147483448" r:id="rId2"/>
    <p:sldId id="2147483449" r:id="rId3"/>
    <p:sldId id="2147483447" r:id="rId4"/>
    <p:sldId id="2147483451" r:id="rId5"/>
    <p:sldId id="2147483450" r:id="rId6"/>
    <p:sldId id="2147483452" r:id="rId7"/>
    <p:sldId id="2147483453" r:id="rId8"/>
    <p:sldId id="2147483454" r:id="rId9"/>
    <p:sldId id="214748344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7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5" autoAdjust="0"/>
    <p:restoredTop sz="94660"/>
  </p:normalViewPr>
  <p:slideViewPr>
    <p:cSldViewPr snapToGrid="0">
      <p:cViewPr>
        <p:scale>
          <a:sx n="100" d="100"/>
          <a:sy n="100" d="100"/>
        </p:scale>
        <p:origin x="1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0C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2EFF9C-AB11-77C6-3E57-4E2452D09F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2084177"/>
            <a:ext cx="11653523" cy="738664"/>
          </a:xfrm>
          <a:noFill/>
        </p:spPr>
        <p:txBody>
          <a:bodyPr tIns="91440" bIns="91440" anchor="t" anchorCtr="0">
            <a:spAutoFit/>
          </a:bodyPr>
          <a:lstStyle>
            <a:lvl1pPr algn="l" defTabSz="9327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1" baseline="0" dirty="0">
                <a:ln w="3175">
                  <a:noFill/>
                </a:ln>
                <a:solidFill>
                  <a:schemeClr val="bg2"/>
                </a:soli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29170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Title Accent Color 1">
    <p:bg>
      <p:bgPr>
        <a:solidFill>
          <a:srgbClr val="0C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57144CF7-53C1-5986-9494-A2B10F933F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495657"/>
            <a:ext cx="11653523" cy="738664"/>
          </a:xfrm>
          <a:noFill/>
        </p:spPr>
        <p:txBody>
          <a:bodyPr tIns="91440" bIns="91440" anchor="t" anchorCtr="0">
            <a:spAutoFit/>
          </a:bodyPr>
          <a:lstStyle>
            <a:lvl1pPr algn="l" defTabSz="9327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1" baseline="0" dirty="0">
                <a:ln w="3175">
                  <a:noFill/>
                </a:ln>
                <a:solidFill>
                  <a:schemeClr val="bg2"/>
                </a:soli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337380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itre et contenu sans liste à 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345546"/>
            <a:ext cx="11655840" cy="843631"/>
          </a:xfrm>
        </p:spPr>
        <p:txBody>
          <a:bodyPr/>
          <a:lstStyle>
            <a:lvl1pPr>
              <a:defRPr lang="en-US" sz="3600" kern="1200" spc="0" baseline="0" dirty="0">
                <a:solidFill>
                  <a:schemeClr val="bg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1717393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2000"/>
            </a:lvl2pPr>
            <a:lvl3pPr marL="224092" indent="0">
              <a:buNone/>
              <a:defRPr sz="1600"/>
            </a:lvl3pPr>
            <a:lvl4pPr marL="448182" indent="0">
              <a:buNone/>
              <a:defRPr sz="1400"/>
            </a:lvl4pPr>
            <a:lvl5pPr marL="672274" indent="0"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0534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itre et contenu avec liste à 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265948"/>
            <a:ext cx="11653523" cy="1712777"/>
          </a:xfrm>
        </p:spPr>
        <p:txBody>
          <a:bodyPr>
            <a:sp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6923" y="355805"/>
            <a:ext cx="11655840" cy="89966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156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sans liste à 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378353"/>
            <a:ext cx="11655840" cy="89966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278017"/>
            <a:ext cx="5378548" cy="2105192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227204" indent="0">
              <a:buNone/>
              <a:tabLst/>
              <a:defRPr sz="1600">
                <a:solidFill>
                  <a:schemeClr val="bg1"/>
                </a:solidFill>
              </a:defRPr>
            </a:lvl3pPr>
            <a:lvl4pPr marL="451295" indent="0">
              <a:buNone/>
              <a:defRPr sz="1400"/>
            </a:lvl4pPr>
            <a:lvl5pPr marL="672274" indent="0">
              <a:buNone/>
              <a:tabLst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278017"/>
            <a:ext cx="5378548" cy="2105192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227204" indent="0">
              <a:buNone/>
              <a:tabLst/>
              <a:defRPr sz="1600">
                <a:solidFill>
                  <a:schemeClr val="bg1"/>
                </a:solidFill>
              </a:defRPr>
            </a:lvl3pPr>
            <a:lvl4pPr marL="451295" indent="0">
              <a:buNone/>
              <a:defRPr sz="1400"/>
            </a:lvl4pPr>
            <a:lvl5pPr marL="672274" indent="0">
              <a:buNone/>
              <a:tabLst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1370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itre seu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345547"/>
            <a:ext cx="11655840" cy="91678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925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code développ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372008"/>
            <a:ext cx="11655840" cy="899665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71671"/>
            <a:ext cx="12192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3" tIns="45723" rIns="45723" bIns="4572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80" fontAlgn="base">
              <a:spcBef>
                <a:spcPct val="0"/>
              </a:spcBef>
              <a:spcAft>
                <a:spcPct val="0"/>
              </a:spcAft>
            </a:pPr>
            <a:endParaRPr lang="en-US" sz="1765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262333"/>
            <a:ext cx="11653523" cy="1717393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18" indent="0">
              <a:buNone/>
              <a:defRPr sz="20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76" indent="0">
              <a:buNone/>
              <a:defRPr sz="16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496" indent="0">
              <a:buNone/>
              <a:defRPr sz="14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66" indent="0">
              <a:buNone/>
              <a:defRPr sz="14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7057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0C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1D00361A-D91B-F37F-0572-AB88BD1BC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77F365A8-5E0D-7002-2D41-1DBEA12C9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65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6" y="620429"/>
            <a:ext cx="11306469" cy="410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 strike="noStrike"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1780298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2">
    <p:bg>
      <p:bgPr>
        <a:solidFill>
          <a:srgbClr val="0C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982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5"/>
          <p:cNvSpPr>
            <a:spLocks noGrp="1"/>
          </p:cNvSpPr>
          <p:nvPr>
            <p:ph type="title" hasCustomPrompt="1"/>
          </p:nvPr>
        </p:nvSpPr>
        <p:spPr>
          <a:xfrm>
            <a:off x="455994" y="941694"/>
            <a:ext cx="7454643" cy="355819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704" spc="-49" baseline="0" dirty="0">
                <a:solidFill>
                  <a:srgbClr val="000000"/>
                </a:solidFill>
              </a:defRPr>
            </a:lvl1pPr>
          </a:lstStyle>
          <a:p>
            <a:pPr marL="0" lvl="0">
              <a:lnSpc>
                <a:spcPts val="5489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876991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1"/>
            <a:ext cx="11018520" cy="452655"/>
          </a:xfrm>
        </p:spPr>
        <p:txBody>
          <a:bodyPr/>
          <a:lstStyle>
            <a:lvl1pPr>
              <a:defRPr sz="2941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19308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2327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F227518-E0C9-435E-A0A0-150D2B57B112}"/>
              </a:ext>
            </a:extLst>
          </p:cNvPr>
          <p:cNvSpPr/>
          <p:nvPr userDrawn="1"/>
        </p:nvSpPr>
        <p:spPr bwMode="auto">
          <a:xfrm>
            <a:off x="6148423" y="1607226"/>
            <a:ext cx="2651760" cy="4678900"/>
          </a:xfrm>
          <a:prstGeom prst="rect">
            <a:avLst/>
          </a:prstGeom>
          <a:solidFill>
            <a:srgbClr val="0C0F2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71500" algn="tl" rotWithShape="0">
              <a:srgbClr val="0078D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182880" tIns="18288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4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50E6FF"/>
              </a:solidFill>
              <a:effectLst/>
              <a:uLnTx/>
              <a:uFillTx/>
              <a:latin typeface="Segoe UI Semibold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0EB202-E158-4485-B222-0FCDEC89A309}"/>
              </a:ext>
            </a:extLst>
          </p:cNvPr>
          <p:cNvSpPr/>
          <p:nvPr userDrawn="1"/>
        </p:nvSpPr>
        <p:spPr bwMode="auto">
          <a:xfrm>
            <a:off x="501999" y="1607226"/>
            <a:ext cx="2651760" cy="4678900"/>
          </a:xfrm>
          <a:prstGeom prst="rect">
            <a:avLst/>
          </a:prstGeom>
          <a:solidFill>
            <a:srgbClr val="0C0F2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71500" algn="tl" rotWithShape="0">
              <a:srgbClr val="0078D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182880" tIns="18288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4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50E6FF"/>
              </a:solidFill>
              <a:effectLst/>
              <a:uLnTx/>
              <a:uFillTx/>
              <a:latin typeface="Segoe UI Semibold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C71814-DCC4-46FC-A1BB-1A648FD5C85B}"/>
              </a:ext>
            </a:extLst>
          </p:cNvPr>
          <p:cNvSpPr/>
          <p:nvPr userDrawn="1"/>
        </p:nvSpPr>
        <p:spPr bwMode="auto">
          <a:xfrm>
            <a:off x="3325211" y="1607226"/>
            <a:ext cx="2651760" cy="4678900"/>
          </a:xfrm>
          <a:prstGeom prst="rect">
            <a:avLst/>
          </a:prstGeom>
          <a:solidFill>
            <a:srgbClr val="0C0F2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71500" algn="tl" rotWithShape="0">
              <a:srgbClr val="0078D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182880" tIns="18288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4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50E6FF"/>
              </a:solidFill>
              <a:effectLst/>
              <a:uLnTx/>
              <a:uFillTx/>
              <a:latin typeface="Segoe UI Semibol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427F7-C573-4C8C-B153-697CCBE1BFB2}"/>
              </a:ext>
            </a:extLst>
          </p:cNvPr>
          <p:cNvSpPr/>
          <p:nvPr userDrawn="1"/>
        </p:nvSpPr>
        <p:spPr bwMode="auto">
          <a:xfrm>
            <a:off x="8971633" y="1607226"/>
            <a:ext cx="2651760" cy="4678900"/>
          </a:xfrm>
          <a:prstGeom prst="rect">
            <a:avLst/>
          </a:prstGeom>
          <a:solidFill>
            <a:srgbClr val="0C0F2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71500" algn="tl" rotWithShape="0">
              <a:srgbClr val="0078D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182880" tIns="18288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4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50E6FF"/>
              </a:solidFill>
              <a:effectLst/>
              <a:uLnTx/>
              <a:uFillTx/>
              <a:latin typeface="Segoe UI Semibold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E6FDA7-6359-42AB-AACF-D7A3D7D28A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965" y="1011240"/>
            <a:ext cx="11020425" cy="461665"/>
          </a:xfrm>
        </p:spPr>
        <p:txBody>
          <a:bodyPr/>
          <a:lstStyle>
            <a:lvl1pPr marL="0" indent="0" algn="ctr">
              <a:buNone/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Segoe UI"/>
                <a:ea typeface="+mn-ea"/>
                <a:cs typeface="+mn-cs"/>
              </a:defRPr>
            </a:lvl1pPr>
            <a:lvl2pPr marL="0" indent="0">
              <a:buNone/>
              <a:defRPr sz="16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tx2"/>
                </a:solidFill>
              </a:defRPr>
            </a:lvl3pPr>
            <a:lvl4pPr marL="0" indent="0">
              <a:buNone/>
              <a:defRPr sz="1100">
                <a:solidFill>
                  <a:schemeClr val="tx2"/>
                </a:solidFill>
              </a:defRPr>
            </a:lvl4pPr>
            <a:lvl5pPr marL="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marL="0" marR="0" lvl="0" indent="0" algn="ctr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308AB1B-0249-467A-8D9D-1BF7357679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8965" y="211098"/>
            <a:ext cx="11020425" cy="406265"/>
          </a:xfrm>
        </p:spPr>
        <p:txBody>
          <a:bodyPr/>
          <a:lstStyle>
            <a:lvl1pPr marL="0" indent="0" algn="ctr">
              <a:buNone/>
              <a:defRPr sz="1600" cap="all" spc="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0" indent="0">
              <a:buNone/>
              <a:defRPr sz="16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tx2"/>
                </a:solidFill>
              </a:defRPr>
            </a:lvl3pPr>
            <a:lvl4pPr marL="0" indent="0">
              <a:buNone/>
              <a:defRPr sz="1100">
                <a:solidFill>
                  <a:schemeClr val="tx2"/>
                </a:solidFill>
              </a:defRPr>
            </a:lvl4pPr>
            <a:lvl5pPr marL="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4B5B7-8773-4896-9B51-294411DD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042E59-3F2D-45CC-A47B-3CA4D6A108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8963" y="1702384"/>
            <a:ext cx="2411412" cy="1338187"/>
          </a:xfrm>
        </p:spPr>
        <p:txBody>
          <a:bodyPr/>
          <a:lstStyle>
            <a:lvl1pPr marL="0" indent="0">
              <a:buNone/>
              <a:defRPr sz="120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None/>
              <a:defRPr sz="1051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1000" b="1"/>
            </a:lvl4pPr>
            <a:lvl5pPr marL="171446" indent="-171446"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599F6FC-4120-434E-A257-EDA21F526B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5385" y="1702384"/>
            <a:ext cx="2411412" cy="1338187"/>
          </a:xfrm>
        </p:spPr>
        <p:txBody>
          <a:bodyPr/>
          <a:lstStyle>
            <a:lvl1pPr marL="0" indent="0">
              <a:buNone/>
              <a:defRPr sz="120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None/>
              <a:defRPr sz="1051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1000" b="1"/>
            </a:lvl4pPr>
            <a:lvl5pPr marL="171446" indent="-171446"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E9D245-D213-4997-9799-EC1C29E6E3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8597" y="1702384"/>
            <a:ext cx="2411412" cy="1338187"/>
          </a:xfrm>
        </p:spPr>
        <p:txBody>
          <a:bodyPr/>
          <a:lstStyle>
            <a:lvl1pPr marL="0" indent="0">
              <a:buNone/>
              <a:defRPr sz="120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None/>
              <a:defRPr sz="1051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1000" b="1"/>
            </a:lvl4pPr>
            <a:lvl5pPr marL="171446" indent="-171446"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8699805-E14A-494D-A249-391BCDF54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1807" y="1702384"/>
            <a:ext cx="2411412" cy="1338187"/>
          </a:xfrm>
        </p:spPr>
        <p:txBody>
          <a:bodyPr/>
          <a:lstStyle>
            <a:lvl1pPr marL="0" indent="0">
              <a:buNone/>
              <a:defRPr sz="120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0" indent="0">
              <a:spcBef>
                <a:spcPts val="300"/>
              </a:spcBef>
              <a:spcAft>
                <a:spcPts val="300"/>
              </a:spcAft>
              <a:buNone/>
              <a:defRPr sz="1051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1000" b="1"/>
            </a:lvl4pPr>
            <a:lvl5pPr marL="171446" indent="-171446"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56005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12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8645" y="620429"/>
            <a:ext cx="113438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3200" strike="noStrike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1822069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eloper Code Layout full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49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2"/>
            <a:ext cx="3788359" cy="461537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585216" tIns="91440" rIns="0" bIns="91440" rtlCol="0">
            <a:spAutoFit/>
          </a:bodyPr>
          <a:lstStyle>
            <a:lvl1pPr marL="0" indent="0">
              <a:buNone/>
              <a:defRPr lang="en-US" sz="1999" dirty="0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1439" y="710247"/>
            <a:ext cx="11018520" cy="517065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45" indent="0">
              <a:buNone/>
              <a:tabLst>
                <a:tab pos="344479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592" indent="0">
              <a:buNone/>
              <a:tabLst>
                <a:tab pos="569899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42" indent="0">
              <a:buNone/>
              <a:tabLst>
                <a:tab pos="80008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71" indent="0">
              <a:buNone/>
              <a:tabLst>
                <a:tab pos="1028674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7412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3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2" y="1189178"/>
            <a:ext cx="11653521" cy="1717393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8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>
    <p:fade/>
  </p:transition>
  <p:txStyles>
    <p:titleStyle>
      <a:lvl1pPr algn="l" defTabSz="914344" rtl="0" eaLnBrk="1" latinLnBrk="0" hangingPunct="1">
        <a:lnSpc>
          <a:spcPct val="90000"/>
        </a:lnSpc>
        <a:spcBef>
          <a:spcPct val="0"/>
        </a:spcBef>
        <a:buNone/>
        <a:defRPr lang="en-US" sz="3600" b="0" kern="1200" cap="none" spc="-51" baseline="0" dirty="0">
          <a:ln w="3175">
            <a:noFill/>
          </a:ln>
          <a:solidFill>
            <a:schemeClr val="bg1"/>
          </a:solidFill>
          <a:effectLst/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336137" marR="0" indent="-336137" algn="l" defTabSz="914344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fr-FR" sz="2800" kern="1200" spc="0" baseline="0">
          <a:solidFill>
            <a:schemeClr val="bg1"/>
          </a:solidFill>
          <a:latin typeface="+mn-lt"/>
          <a:ea typeface="+mn-ea"/>
          <a:cs typeface="Segoe UI Semibold" panose="020B0702040204020203" pitchFamily="34" charset="0"/>
        </a:defRPr>
      </a:lvl1pPr>
      <a:lvl2pPr marL="572676" marR="0" indent="-236541" algn="l" defTabSz="914344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19" marR="0" indent="-224092" algn="l" defTabSz="914344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09" marR="0" indent="-224092" algn="l" defTabSz="914344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4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00" marR="0" indent="-224092" algn="l" defTabSz="914344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4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446" indent="-228586" algn="l" defTabSz="914344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9" indent="-228586" algn="l" defTabSz="914344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2" indent="-228586" algn="l" defTabSz="914344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64" indent="-228586" algn="l" defTabSz="914344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44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6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9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2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3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04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378" algn="l" defTabSz="914344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3">
          <p15:clr>
            <a:srgbClr val="5ACBF0"/>
          </p15:clr>
        </p15:guide>
        <p15:guide id="2" pos="749">
          <p15:clr>
            <a:srgbClr val="A4A3A4"/>
          </p15:clr>
        </p15:guide>
        <p15:guide id="3" pos="1325">
          <p15:clr>
            <a:srgbClr val="A4A3A4"/>
          </p15:clr>
        </p15:guide>
        <p15:guide id="4" pos="1901">
          <p15:clr>
            <a:srgbClr val="A4A3A4"/>
          </p15:clr>
        </p15:guide>
        <p15:guide id="5" pos="2477">
          <p15:clr>
            <a:srgbClr val="A4A3A4"/>
          </p15:clr>
        </p15:guide>
        <p15:guide id="6" pos="3053">
          <p15:clr>
            <a:srgbClr val="A4A3A4"/>
          </p15:clr>
        </p15:guide>
        <p15:guide id="7" pos="3629">
          <p15:clr>
            <a:srgbClr val="A4A3A4"/>
          </p15:clr>
        </p15:guide>
        <p15:guide id="8" pos="4205">
          <p15:clr>
            <a:srgbClr val="A4A3A4"/>
          </p15:clr>
        </p15:guide>
        <p15:guide id="9" pos="4781">
          <p15:clr>
            <a:srgbClr val="A4A3A4"/>
          </p15:clr>
        </p15:guide>
        <p15:guide id="10" pos="5357">
          <p15:clr>
            <a:srgbClr val="A4A3A4"/>
          </p15:clr>
        </p15:guide>
        <p15:guide id="11" pos="5933">
          <p15:clr>
            <a:srgbClr val="A4A3A4"/>
          </p15:clr>
        </p15:guide>
        <p15:guide id="12" pos="6509">
          <p15:clr>
            <a:srgbClr val="A4A3A4"/>
          </p15:clr>
        </p15:guide>
        <p15:guide id="13" pos="7085">
          <p15:clr>
            <a:srgbClr val="A4A3A4"/>
          </p15:clr>
        </p15:guide>
        <p15:guide id="14" pos="7661">
          <p15:clr>
            <a:srgbClr val="5ACBF0"/>
          </p15:clr>
        </p15:guide>
        <p15:guide id="15" orient="horz" pos="187">
          <p15:clr>
            <a:srgbClr val="5ACBF0"/>
          </p15:clr>
        </p15:guide>
        <p15:guide id="16" orient="horz" pos="4219">
          <p15:clr>
            <a:srgbClr val="5ACBF0"/>
          </p15:clr>
        </p15:guide>
        <p15:guide id="17" orient="horz" pos="763">
          <p15:clr>
            <a:srgbClr val="A4A3A4"/>
          </p15:clr>
        </p15:guide>
        <p15:guide id="18" orient="horz" pos="1339">
          <p15:clr>
            <a:srgbClr val="A4A3A4"/>
          </p15:clr>
        </p15:guide>
        <p15:guide id="19" orient="horz" pos="1915">
          <p15:clr>
            <a:srgbClr val="A4A3A4"/>
          </p15:clr>
        </p15:guide>
        <p15:guide id="20" orient="horz" pos="2491">
          <p15:clr>
            <a:srgbClr val="A4A3A4"/>
          </p15:clr>
        </p15:guide>
        <p15:guide id="21" orient="horz" pos="3067">
          <p15:clr>
            <a:srgbClr val="A4A3A4"/>
          </p15:clr>
        </p15:guide>
        <p15:guide id="22" orient="horz" pos="3643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F1EE-AF64-0A63-AD8B-38231403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4C171-DA24-AEA9-45E2-524ADAE8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Classical GPU Accelerated AI Inferencing </a:t>
            </a:r>
            <a:r>
              <a:rPr lang="en-US" noProof="0" dirty="0"/>
              <a:t>Architecture</a:t>
            </a:r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84DA8DF0-2A82-F7F0-A276-26360C95ACD4}"/>
              </a:ext>
            </a:extLst>
          </p:cNvPr>
          <p:cNvGrpSpPr/>
          <p:nvPr/>
        </p:nvGrpSpPr>
        <p:grpSpPr>
          <a:xfrm>
            <a:off x="1936283" y="1240835"/>
            <a:ext cx="8319434" cy="4376329"/>
            <a:chOff x="2222544" y="1249182"/>
            <a:chExt cx="8319434" cy="4376329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9CB576A8-86AA-5EC8-E3B3-93F65FD8BBBA}"/>
                </a:ext>
              </a:extLst>
            </p:cNvPr>
            <p:cNvCxnSpPr>
              <a:cxnSpLocks/>
            </p:cNvCxnSpPr>
            <p:nvPr/>
          </p:nvCxnSpPr>
          <p:spPr>
            <a:xfrm>
              <a:off x="5669459" y="1249182"/>
              <a:ext cx="0" cy="4351218"/>
            </a:xfrm>
            <a:prstGeom prst="line">
              <a:avLst/>
            </a:prstGeom>
            <a:ln w="28575" cap="flat" cmpd="sng" algn="ctr">
              <a:gradFill flip="none" rotWithShape="1">
                <a:gsLst>
                  <a:gs pos="0">
                    <a:srgbClr val="0070C0"/>
                  </a:gs>
                  <a:gs pos="69000">
                    <a:srgbClr val="7030A0"/>
                  </a:gs>
                  <a:gs pos="100000">
                    <a:srgbClr val="D84884"/>
                  </a:gs>
                </a:gsLst>
                <a:path path="circle">
                  <a:fillToRect l="50000" t="-80000" r="50000" b="180000"/>
                </a:path>
                <a:tileRect/>
              </a:gra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0E68A61F-FFA9-0FDC-2D1E-259E012B06F9}"/>
                </a:ext>
              </a:extLst>
            </p:cNvPr>
            <p:cNvSpPr/>
            <p:nvPr/>
          </p:nvSpPr>
          <p:spPr bwMode="auto">
            <a:xfrm>
              <a:off x="2222544" y="3226962"/>
              <a:ext cx="1316303" cy="563071"/>
            </a:xfrm>
            <a:prstGeom prst="roundRect">
              <a:avLst>
                <a:gd name="adj" fmla="val 6958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AI model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B4633C80-DB18-1385-C7E4-CE342BB79D57}"/>
                </a:ext>
              </a:extLst>
            </p:cNvPr>
            <p:cNvSpPr/>
            <p:nvPr/>
          </p:nvSpPr>
          <p:spPr bwMode="auto">
            <a:xfrm>
              <a:off x="6326885" y="2057821"/>
              <a:ext cx="3194537" cy="2380937"/>
            </a:xfrm>
            <a:prstGeom prst="roundRect">
              <a:avLst>
                <a:gd name="adj" fmla="val 3085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rgbClr val="808080"/>
                  </a:solidFill>
                  <a:latin typeface="Segoe UI"/>
                  <a:sym typeface="Arial"/>
                </a:rPr>
                <a:t>   Azure GPU VM 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366059BD-C2A2-5D2D-3DF3-72D59753E8A5}"/>
                </a:ext>
              </a:extLst>
            </p:cNvPr>
            <p:cNvSpPr/>
            <p:nvPr/>
          </p:nvSpPr>
          <p:spPr bwMode="auto">
            <a:xfrm>
              <a:off x="6552674" y="3904983"/>
              <a:ext cx="2801773" cy="346889"/>
            </a:xfrm>
            <a:prstGeom prst="roundRect">
              <a:avLst>
                <a:gd name="adj" fmla="val 6958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OS + GPU driver</a:t>
              </a:r>
            </a:p>
          </p:txBody>
        </p: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23505E58-630D-76DA-FDE5-732B4BD44922}"/>
                </a:ext>
              </a:extLst>
            </p:cNvPr>
            <p:cNvSpPr/>
            <p:nvPr/>
          </p:nvSpPr>
          <p:spPr bwMode="auto">
            <a:xfrm>
              <a:off x="6552674" y="2405555"/>
              <a:ext cx="2801773" cy="556004"/>
            </a:xfrm>
            <a:prstGeom prst="roundRect">
              <a:avLst>
                <a:gd name="adj" fmla="val 6958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Inference Server </a:t>
              </a:r>
            </a:p>
          </p:txBody>
        </p:sp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1A846885-B56F-320D-11E3-3BD26DB798EF}"/>
                </a:ext>
              </a:extLst>
            </p:cNvPr>
            <p:cNvSpPr/>
            <p:nvPr/>
          </p:nvSpPr>
          <p:spPr bwMode="auto">
            <a:xfrm>
              <a:off x="6553864" y="3200509"/>
              <a:ext cx="2801773" cy="622271"/>
            </a:xfrm>
            <a:prstGeom prst="roundRect">
              <a:avLst>
                <a:gd name="adj" fmla="val 6044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marL="228594" indent="-228594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endParaRPr lang="en-US" sz="1600" b="1" kern="0" dirty="0">
                <a:solidFill>
                  <a:sysClr val="windowText" lastClr="000000"/>
                </a:solidFill>
                <a:latin typeface="Segoe UI"/>
                <a:sym typeface="Arial"/>
              </a:endParaRPr>
            </a:p>
          </p:txBody>
        </p:sp>
        <p:sp>
          <p:nvSpPr>
            <p:cNvPr id="60" name="Rectangle : coins arrondis 59">
              <a:extLst>
                <a:ext uri="{FF2B5EF4-FFF2-40B4-BE49-F238E27FC236}">
                  <a16:creationId xmlns:a16="http://schemas.microsoft.com/office/drawing/2014/main" id="{1B410D68-014C-416F-BE45-4CFA31181595}"/>
                </a:ext>
              </a:extLst>
            </p:cNvPr>
            <p:cNvSpPr/>
            <p:nvPr/>
          </p:nvSpPr>
          <p:spPr bwMode="auto">
            <a:xfrm>
              <a:off x="6709611" y="3335770"/>
              <a:ext cx="2443220" cy="345456"/>
            </a:xfrm>
            <a:prstGeom prst="roundRect">
              <a:avLst>
                <a:gd name="adj" fmla="val 6958"/>
              </a:avLst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AI Model</a:t>
              </a:r>
            </a:p>
          </p:txBody>
        </p: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C57CA4F9-706E-0227-A1E0-FC21E1FA5C6F}"/>
                </a:ext>
              </a:extLst>
            </p:cNvPr>
            <p:cNvCxnSpPr>
              <a:cxnSpLocks/>
              <a:stCxn id="8" idx="3"/>
              <a:endCxn id="58" idx="1"/>
            </p:cNvCxnSpPr>
            <p:nvPr/>
          </p:nvCxnSpPr>
          <p:spPr>
            <a:xfrm>
              <a:off x="3538847" y="3508498"/>
              <a:ext cx="3015017" cy="3147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itle 14">
              <a:extLst>
                <a:ext uri="{FF2B5EF4-FFF2-40B4-BE49-F238E27FC236}">
                  <a16:creationId xmlns:a16="http://schemas.microsoft.com/office/drawing/2014/main" id="{072ED77E-DD22-4CD3-360F-75EA46F872FF}"/>
                </a:ext>
              </a:extLst>
            </p:cNvPr>
            <p:cNvSpPr txBox="1">
              <a:spLocks/>
            </p:cNvSpPr>
            <p:nvPr/>
          </p:nvSpPr>
          <p:spPr>
            <a:xfrm>
              <a:off x="3438775" y="5256179"/>
              <a:ext cx="2166847" cy="369332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2400" kern="1200" spc="-51" dirty="0">
                  <a:ln w="3175">
                    <a:noFill/>
                  </a:ln>
                  <a:gradFill>
                    <a:gsLst>
                      <a:gs pos="52000">
                        <a:srgbClr val="7E50C9"/>
                      </a:gs>
                      <a:gs pos="29000">
                        <a:srgbClr val="3966CF"/>
                      </a:gs>
                      <a:gs pos="100000">
                        <a:srgbClr val="F4364C"/>
                      </a:gs>
                      <a:gs pos="74000">
                        <a:srgbClr val="C03BC4"/>
                      </a:gs>
                      <a:gs pos="0">
                        <a:srgbClr val="399A91"/>
                      </a:gs>
                    </a:gsLst>
                    <a:lin ang="3000000" scaled="0"/>
                  </a:gradFill>
                  <a:cs typeface="Segoe UI" pitchFamily="34" charset="0"/>
                  <a:sym typeface="Arial"/>
                </a:rPr>
                <a:t>Local</a:t>
              </a:r>
            </a:p>
          </p:txBody>
        </p:sp>
        <p:sp>
          <p:nvSpPr>
            <p:cNvPr id="112" name="Title 14">
              <a:extLst>
                <a:ext uri="{FF2B5EF4-FFF2-40B4-BE49-F238E27FC236}">
                  <a16:creationId xmlns:a16="http://schemas.microsoft.com/office/drawing/2014/main" id="{1A2F3218-2150-64BF-8E91-01D918896F53}"/>
                </a:ext>
              </a:extLst>
            </p:cNvPr>
            <p:cNvSpPr txBox="1">
              <a:spLocks/>
            </p:cNvSpPr>
            <p:nvPr/>
          </p:nvSpPr>
          <p:spPr>
            <a:xfrm>
              <a:off x="5605622" y="5256179"/>
              <a:ext cx="2166847" cy="369332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2400" kern="1200" spc="-51" dirty="0">
                  <a:ln w="3175">
                    <a:noFill/>
                  </a:ln>
                  <a:gradFill>
                    <a:gsLst>
                      <a:gs pos="52000">
                        <a:srgbClr val="7E50C9"/>
                      </a:gs>
                      <a:gs pos="29000">
                        <a:srgbClr val="3966CF"/>
                      </a:gs>
                      <a:gs pos="100000">
                        <a:srgbClr val="F4364C"/>
                      </a:gs>
                      <a:gs pos="74000">
                        <a:srgbClr val="C03BC4"/>
                      </a:gs>
                      <a:gs pos="0">
                        <a:srgbClr val="399A91"/>
                      </a:gs>
                    </a:gsLst>
                    <a:lin ang="3000000" scaled="0"/>
                  </a:gradFill>
                  <a:cs typeface="Segoe UI" pitchFamily="34" charset="0"/>
                  <a:sym typeface="Arial"/>
                </a:rPr>
                <a:t>Cloud</a:t>
              </a:r>
            </a:p>
          </p:txBody>
        </p:sp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DAE0607D-B54C-DBDC-B314-798D66499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0308" y="4884961"/>
              <a:ext cx="647689" cy="4422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itle 14">
              <a:extLst>
                <a:ext uri="{FF2B5EF4-FFF2-40B4-BE49-F238E27FC236}">
                  <a16:creationId xmlns:a16="http://schemas.microsoft.com/office/drawing/2014/main" id="{6FF4000D-0978-99FF-2826-14DF8589E971}"/>
                </a:ext>
              </a:extLst>
            </p:cNvPr>
            <p:cNvSpPr txBox="1">
              <a:spLocks/>
            </p:cNvSpPr>
            <p:nvPr/>
          </p:nvSpPr>
          <p:spPr>
            <a:xfrm>
              <a:off x="7836247" y="4884961"/>
              <a:ext cx="2705731" cy="492443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spcBef>
                  <a:spcPts val="0"/>
                </a:spcBef>
                <a:defRPr/>
              </a:pPr>
              <a:r>
                <a:rPr lang="en-US" sz="1600" kern="1200" spc="-51" dirty="0">
                  <a:ln w="3175">
                    <a:noFill/>
                  </a:ln>
                  <a:solidFill>
                    <a:srgbClr val="DDDDDD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</a:rPr>
                <a:t>NVIDIA H100</a:t>
              </a:r>
            </a:p>
            <a:p>
              <a:pPr defTabSz="914414">
                <a:spcBef>
                  <a:spcPts val="0"/>
                </a:spcBef>
                <a:defRPr/>
              </a:pPr>
              <a:r>
                <a:rPr lang="en-US" sz="1600" kern="1200" spc="-51" dirty="0">
                  <a:ln w="3175">
                    <a:noFill/>
                  </a:ln>
                  <a:solidFill>
                    <a:srgbClr val="DDDDDD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</a:rPr>
                <a:t>Tensor core GPU</a:t>
              </a:r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B41B047D-80E3-151B-9A61-73D17296EDE2}"/>
                </a:ext>
              </a:extLst>
            </p:cNvPr>
            <p:cNvSpPr/>
            <p:nvPr/>
          </p:nvSpPr>
          <p:spPr bwMode="auto">
            <a:xfrm>
              <a:off x="2222544" y="2405555"/>
              <a:ext cx="1316303" cy="563071"/>
            </a:xfrm>
            <a:prstGeom prst="roundRect">
              <a:avLst>
                <a:gd name="adj" fmla="val 6958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Client</a:t>
              </a:r>
            </a:p>
          </p:txBody>
        </p:sp>
        <p:sp>
          <p:nvSpPr>
            <p:cNvPr id="56" name="Title 14">
              <a:extLst>
                <a:ext uri="{FF2B5EF4-FFF2-40B4-BE49-F238E27FC236}">
                  <a16:creationId xmlns:a16="http://schemas.microsoft.com/office/drawing/2014/main" id="{92318B0B-CD26-35BB-D70F-D357209002B9}"/>
                </a:ext>
              </a:extLst>
            </p:cNvPr>
            <p:cNvSpPr txBox="1">
              <a:spLocks/>
            </p:cNvSpPr>
            <p:nvPr/>
          </p:nvSpPr>
          <p:spPr>
            <a:xfrm>
              <a:off x="3626695" y="2361857"/>
              <a:ext cx="2166847" cy="246221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1600" kern="1200" spc="-51" dirty="0">
                  <a:ln w="3175">
                    <a:noFill/>
                  </a:ln>
                  <a:solidFill>
                    <a:srgbClr val="DDDDDD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</a:rPr>
                <a:t>TLS Tunnel</a:t>
              </a:r>
            </a:p>
          </p:txBody>
        </p: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959D74DB-8FD5-640E-04B8-A0E7F0758814}"/>
                </a:ext>
              </a:extLst>
            </p:cNvPr>
            <p:cNvCxnSpPr>
              <a:cxnSpLocks/>
              <a:stCxn id="58" idx="0"/>
              <a:endCxn id="41" idx="2"/>
            </p:cNvCxnSpPr>
            <p:nvPr/>
          </p:nvCxnSpPr>
          <p:spPr>
            <a:xfrm flipH="1" flipV="1">
              <a:off x="7953561" y="2961559"/>
              <a:ext cx="1190" cy="23895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DFC80CA3-2509-365F-2E02-B427025F6159}"/>
                </a:ext>
              </a:extLst>
            </p:cNvPr>
            <p:cNvCxnSpPr>
              <a:cxnSpLocks/>
              <a:stCxn id="2051" idx="0"/>
              <a:endCxn id="14" idx="2"/>
            </p:cNvCxnSpPr>
            <p:nvPr/>
          </p:nvCxnSpPr>
          <p:spPr>
            <a:xfrm flipV="1">
              <a:off x="7924153" y="4438758"/>
              <a:ext cx="1" cy="446203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5D29CFD6-E5B9-6EC2-37F1-4E55CF1F415C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3538847" y="2683557"/>
              <a:ext cx="3013827" cy="3534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itle 14">
              <a:extLst>
                <a:ext uri="{FF2B5EF4-FFF2-40B4-BE49-F238E27FC236}">
                  <a16:creationId xmlns:a16="http://schemas.microsoft.com/office/drawing/2014/main" id="{48408979-D15F-617D-2B26-7C63560A52EF}"/>
                </a:ext>
              </a:extLst>
            </p:cNvPr>
            <p:cNvSpPr txBox="1">
              <a:spLocks/>
            </p:cNvSpPr>
            <p:nvPr/>
          </p:nvSpPr>
          <p:spPr>
            <a:xfrm>
              <a:off x="3626694" y="3559046"/>
              <a:ext cx="2166847" cy="246221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1600" kern="1200" spc="-51" dirty="0">
                  <a:ln w="3175">
                    <a:noFill/>
                  </a:ln>
                  <a:solidFill>
                    <a:srgbClr val="DDDDDD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</a:rPr>
                <a:t>Model Upload</a:t>
              </a:r>
            </a:p>
          </p:txBody>
        </p:sp>
        <p:pic>
          <p:nvPicPr>
            <p:cNvPr id="79" name="Picture 1">
              <a:extLst>
                <a:ext uri="{FF2B5EF4-FFF2-40B4-BE49-F238E27FC236}">
                  <a16:creationId xmlns:a16="http://schemas.microsoft.com/office/drawing/2014/main" id="{8D23209C-2077-08F8-C8E4-8E638617CD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6890" y="3087562"/>
              <a:ext cx="290153" cy="24291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5668224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09464-044E-4936-38B9-2127A1CA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D725091D-8BC8-1B10-DB5B-BB7BD43087F2}"/>
              </a:ext>
            </a:extLst>
          </p:cNvPr>
          <p:cNvCxnSpPr>
            <a:cxnSpLocks/>
            <a:stCxn id="15" idx="1"/>
            <a:endCxn id="15" idx="2"/>
          </p:cNvCxnSpPr>
          <p:nvPr/>
        </p:nvCxnSpPr>
        <p:spPr>
          <a:xfrm rot="10800000" flipH="1" flipV="1">
            <a:off x="3072276" y="3769997"/>
            <a:ext cx="721580" cy="281535"/>
          </a:xfrm>
          <a:prstGeom prst="curvedConnector4">
            <a:avLst>
              <a:gd name="adj1" fmla="val -42241"/>
              <a:gd name="adj2" fmla="val 314272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57DCE8A-F3FC-01C3-0898-F29207465F04}"/>
              </a:ext>
            </a:extLst>
          </p:cNvPr>
          <p:cNvCxnSpPr>
            <a:cxnSpLocks/>
          </p:cNvCxnSpPr>
          <p:nvPr/>
        </p:nvCxnSpPr>
        <p:spPr>
          <a:xfrm>
            <a:off x="6236036" y="1009706"/>
            <a:ext cx="0" cy="5338516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752C50A-9B6F-5C3F-E56E-DA69126776A7}"/>
              </a:ext>
            </a:extLst>
          </p:cNvPr>
          <p:cNvSpPr/>
          <p:nvPr/>
        </p:nvSpPr>
        <p:spPr bwMode="auto">
          <a:xfrm>
            <a:off x="872373" y="3488463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AI model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85826D5-97F0-F082-A6DD-F959F58747C0}"/>
              </a:ext>
            </a:extLst>
          </p:cNvPr>
          <p:cNvSpPr/>
          <p:nvPr/>
        </p:nvSpPr>
        <p:spPr bwMode="auto">
          <a:xfrm>
            <a:off x="7879468" y="1057683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Service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5382D9A-10FD-CD69-2AD2-27F3EEC8ADC9}"/>
              </a:ext>
            </a:extLst>
          </p:cNvPr>
          <p:cNvSpPr/>
          <p:nvPr/>
        </p:nvSpPr>
        <p:spPr bwMode="auto">
          <a:xfrm>
            <a:off x="7352017" y="2771878"/>
            <a:ext cx="2802965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rgbClr val="808080"/>
                </a:solidFill>
                <a:latin typeface="Segoe UI"/>
                <a:sym typeface="Arial"/>
              </a:rPr>
              <a:t>   Azure Confidential GPU VM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715D6F0-856B-9E9E-4B02-7D7EC78D1F07}"/>
              </a:ext>
            </a:extLst>
          </p:cNvPr>
          <p:cNvSpPr/>
          <p:nvPr/>
        </p:nvSpPr>
        <p:spPr bwMode="auto">
          <a:xfrm>
            <a:off x="3072276" y="3488463"/>
            <a:ext cx="1443160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Model Encrypt Application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B91AEE3-5ABC-50F9-3D17-C3F66AB95182}"/>
              </a:ext>
            </a:extLst>
          </p:cNvPr>
          <p:cNvSpPr/>
          <p:nvPr/>
        </p:nvSpPr>
        <p:spPr bwMode="auto">
          <a:xfrm>
            <a:off x="7521117" y="4578757"/>
            <a:ext cx="248220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OS + GPU driver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735F426-43FA-722C-5B36-9E3F2EA9BBD6}"/>
              </a:ext>
            </a:extLst>
          </p:cNvPr>
          <p:cNvSpPr/>
          <p:nvPr/>
        </p:nvSpPr>
        <p:spPr bwMode="auto">
          <a:xfrm>
            <a:off x="7521119" y="4961316"/>
            <a:ext cx="2482206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 err="1">
                <a:solidFill>
                  <a:sysClr val="windowText" lastClr="000000"/>
                </a:solidFill>
                <a:latin typeface="Segoe UI"/>
                <a:sym typeface="Arial"/>
              </a:rPr>
              <a:t>vTPM</a:t>
            </a:r>
            <a:endParaRPr lang="en-US" sz="1600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B3508ED-C1EA-5476-A814-67978267645B}"/>
              </a:ext>
            </a:extLst>
          </p:cNvPr>
          <p:cNvGrpSpPr/>
          <p:nvPr/>
        </p:nvGrpSpPr>
        <p:grpSpPr>
          <a:xfrm>
            <a:off x="7529873" y="3179592"/>
            <a:ext cx="2482206" cy="1180813"/>
            <a:chOff x="9272330" y="2976390"/>
            <a:chExt cx="2089387" cy="1180813"/>
          </a:xfrm>
        </p:grpSpPr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306D09AE-F32E-F2AD-7090-868E76DD5C9C}"/>
                </a:ext>
              </a:extLst>
            </p:cNvPr>
            <p:cNvSpPr/>
            <p:nvPr/>
          </p:nvSpPr>
          <p:spPr bwMode="auto">
            <a:xfrm>
              <a:off x="9272330" y="2976390"/>
              <a:ext cx="2089387" cy="1180813"/>
            </a:xfrm>
            <a:prstGeom prst="roundRect">
              <a:avLst>
                <a:gd name="adj" fmla="val 6044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marL="228594" indent="-228594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endParaRPr lang="en-US" sz="1600" b="1" kern="0" dirty="0">
                <a:solidFill>
                  <a:sysClr val="windowText" lastClr="000000"/>
                </a:solidFill>
                <a:latin typeface="Segoe UI"/>
                <a:sym typeface="Arial"/>
              </a:endParaRPr>
            </a:p>
          </p:txBody>
        </p:sp>
        <p:sp>
          <p:nvSpPr>
            <p:cNvPr id="60" name="Rectangle : coins arrondis 59">
              <a:extLst>
                <a:ext uri="{FF2B5EF4-FFF2-40B4-BE49-F238E27FC236}">
                  <a16:creationId xmlns:a16="http://schemas.microsoft.com/office/drawing/2014/main" id="{8455F941-3C02-9EF5-2A41-4A58BA665D4B}"/>
                </a:ext>
              </a:extLst>
            </p:cNvPr>
            <p:cNvSpPr/>
            <p:nvPr/>
          </p:nvSpPr>
          <p:spPr bwMode="auto">
            <a:xfrm>
              <a:off x="9419747" y="3121241"/>
              <a:ext cx="1794553" cy="345456"/>
            </a:xfrm>
            <a:prstGeom prst="roundRect">
              <a:avLst>
                <a:gd name="adj" fmla="val 6958"/>
              </a:avLst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Encrypted Model</a:t>
              </a:r>
            </a:p>
          </p:txBody>
        </p:sp>
        <p:sp>
          <p:nvSpPr>
            <p:cNvPr id="61" name="Rectangle : coins arrondis 60">
              <a:extLst>
                <a:ext uri="{FF2B5EF4-FFF2-40B4-BE49-F238E27FC236}">
                  <a16:creationId xmlns:a16="http://schemas.microsoft.com/office/drawing/2014/main" id="{B9BECAFA-CF62-3659-8813-A0705A7B83FC}"/>
                </a:ext>
              </a:extLst>
            </p:cNvPr>
            <p:cNvSpPr/>
            <p:nvPr/>
          </p:nvSpPr>
          <p:spPr bwMode="auto">
            <a:xfrm>
              <a:off x="9419745" y="3667135"/>
              <a:ext cx="1794553" cy="345456"/>
            </a:xfrm>
            <a:prstGeom prst="roundRect">
              <a:avLst>
                <a:gd name="adj" fmla="val 6958"/>
              </a:avLst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Wrapped DEK</a:t>
              </a:r>
            </a:p>
          </p:txBody>
        </p:sp>
      </p:grp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79DFB6A3-FF00-22DC-9FB0-1A803EB37A84}"/>
              </a:ext>
            </a:extLst>
          </p:cNvPr>
          <p:cNvCxnSpPr>
            <a:cxnSpLocks/>
            <a:stCxn id="12" idx="1"/>
            <a:endCxn id="15" idx="0"/>
          </p:cNvCxnSpPr>
          <p:nvPr/>
        </p:nvCxnSpPr>
        <p:spPr>
          <a:xfrm rot="10800000" flipV="1">
            <a:off x="3793856" y="1479499"/>
            <a:ext cx="4085612" cy="2008964"/>
          </a:xfrm>
          <a:prstGeom prst="bentConnector2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9F89B560-6DA6-93CC-A54E-45B8D4F062A0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2188676" y="3769998"/>
            <a:ext cx="883601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9F869D94-2558-6730-B95E-9154D2603360}"/>
              </a:ext>
            </a:extLst>
          </p:cNvPr>
          <p:cNvCxnSpPr>
            <a:cxnSpLocks/>
            <a:stCxn id="15" idx="3"/>
            <a:endCxn id="58" idx="1"/>
          </p:cNvCxnSpPr>
          <p:nvPr/>
        </p:nvCxnSpPr>
        <p:spPr>
          <a:xfrm>
            <a:off x="4515436" y="3769999"/>
            <a:ext cx="3014437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Graphic 43">
            <a:extLst>
              <a:ext uri="{FF2B5EF4-FFF2-40B4-BE49-F238E27FC236}">
                <a16:creationId xmlns:a16="http://schemas.microsoft.com/office/drawing/2014/main" id="{FFF592F1-18A0-22E6-1A97-9C2A4A641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003324" y="2552399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7B1C9457-6C7B-8336-7759-13CC9F35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97432" y="852156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3684BC17-33C4-D10F-6855-A89EBE42FE0B}"/>
              </a:ext>
            </a:extLst>
          </p:cNvPr>
          <p:cNvSpPr txBox="1">
            <a:spLocks/>
          </p:cNvSpPr>
          <p:nvPr/>
        </p:nvSpPr>
        <p:spPr>
          <a:xfrm>
            <a:off x="4174351" y="5925259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916536A6-4DBA-6E29-11EB-1EAA9879D25D}"/>
              </a:ext>
            </a:extLst>
          </p:cNvPr>
          <p:cNvSpPr txBox="1">
            <a:spLocks/>
          </p:cNvSpPr>
          <p:nvPr/>
        </p:nvSpPr>
        <p:spPr>
          <a:xfrm>
            <a:off x="6079568" y="5978890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45" name="Title 14">
            <a:extLst>
              <a:ext uri="{FF2B5EF4-FFF2-40B4-BE49-F238E27FC236}">
                <a16:creationId xmlns:a16="http://schemas.microsoft.com/office/drawing/2014/main" id="{75C7EFED-E395-6AD8-EE05-F68CB211833A}"/>
              </a:ext>
            </a:extLst>
          </p:cNvPr>
          <p:cNvSpPr txBox="1">
            <a:spLocks/>
          </p:cNvSpPr>
          <p:nvPr/>
        </p:nvSpPr>
        <p:spPr>
          <a:xfrm>
            <a:off x="2099890" y="4650585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Generate Unique DEK</a:t>
            </a:r>
          </a:p>
        </p:txBody>
      </p:sp>
      <p:sp>
        <p:nvSpPr>
          <p:cNvPr id="146" name="Title 14">
            <a:extLst>
              <a:ext uri="{FF2B5EF4-FFF2-40B4-BE49-F238E27FC236}">
                <a16:creationId xmlns:a16="http://schemas.microsoft.com/office/drawing/2014/main" id="{393A73C8-15DA-FA3C-6F82-5A3457E8DD75}"/>
              </a:ext>
            </a:extLst>
          </p:cNvPr>
          <p:cNvSpPr txBox="1">
            <a:spLocks/>
          </p:cNvSpPr>
          <p:nvPr/>
        </p:nvSpPr>
        <p:spPr>
          <a:xfrm>
            <a:off x="4069189" y="1193140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47" name="Title 14">
            <a:extLst>
              <a:ext uri="{FF2B5EF4-FFF2-40B4-BE49-F238E27FC236}">
                <a16:creationId xmlns:a16="http://schemas.microsoft.com/office/drawing/2014/main" id="{ECBDCF39-BF55-F754-0485-FFC08E49BB30}"/>
              </a:ext>
            </a:extLst>
          </p:cNvPr>
          <p:cNvSpPr txBox="1">
            <a:spLocks/>
          </p:cNvSpPr>
          <p:nvPr/>
        </p:nvSpPr>
        <p:spPr>
          <a:xfrm>
            <a:off x="4257982" y="3405088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Encrypted Model</a:t>
            </a:r>
          </a:p>
        </p:txBody>
      </p:sp>
      <p:sp>
        <p:nvSpPr>
          <p:cNvPr id="148" name="Title 14">
            <a:extLst>
              <a:ext uri="{FF2B5EF4-FFF2-40B4-BE49-F238E27FC236}">
                <a16:creationId xmlns:a16="http://schemas.microsoft.com/office/drawing/2014/main" id="{41CD1AEE-210B-D4F4-0D20-EDEC30551676}"/>
              </a:ext>
            </a:extLst>
          </p:cNvPr>
          <p:cNvSpPr txBox="1">
            <a:spLocks/>
          </p:cNvSpPr>
          <p:nvPr/>
        </p:nvSpPr>
        <p:spPr>
          <a:xfrm>
            <a:off x="4273799" y="3821674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Wrapped DEK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4D20B999-DBF1-E90B-A4EF-9EAFEBCB0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9500" y="632831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F944BCD4-DA4B-D519-1161-1DD629E86A3C}"/>
              </a:ext>
            </a:extLst>
          </p:cNvPr>
          <p:cNvSpPr txBox="1">
            <a:spLocks/>
          </p:cNvSpPr>
          <p:nvPr/>
        </p:nvSpPr>
        <p:spPr>
          <a:xfrm>
            <a:off x="655134" y="642465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pic>
        <p:nvPicPr>
          <p:cNvPr id="7" name="Graphic 51">
            <a:extLst>
              <a:ext uri="{FF2B5EF4-FFF2-40B4-BE49-F238E27FC236}">
                <a16:creationId xmlns:a16="http://schemas.microsoft.com/office/drawing/2014/main" id="{694BB704-BA76-C163-1EFB-46D36D06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4367" y="947147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AD652E90-CF69-9B82-0A2A-9A7E5047A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54" y="5785877"/>
            <a:ext cx="647689" cy="44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5598D02B-E910-BC1E-9FCE-90BB52AC1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948309" y="5646186"/>
            <a:ext cx="304336" cy="293431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EF0D3F82-46F1-031C-1F7C-25D0BFB06D57}"/>
              </a:ext>
            </a:extLst>
          </p:cNvPr>
          <p:cNvCxnSpPr>
            <a:cxnSpLocks/>
            <a:stCxn id="14" idx="2"/>
            <a:endCxn id="2051" idx="0"/>
          </p:cNvCxnSpPr>
          <p:nvPr/>
        </p:nvCxnSpPr>
        <p:spPr>
          <a:xfrm rot="5400000">
            <a:off x="8606785" y="5639161"/>
            <a:ext cx="29343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4">
            <a:extLst>
              <a:ext uri="{FF2B5EF4-FFF2-40B4-BE49-F238E27FC236}">
                <a16:creationId xmlns:a16="http://schemas.microsoft.com/office/drawing/2014/main" id="{37A4D0E9-397A-162E-03E2-CC1AEEF1DEDB}"/>
              </a:ext>
            </a:extLst>
          </p:cNvPr>
          <p:cNvSpPr txBox="1">
            <a:spLocks/>
          </p:cNvSpPr>
          <p:nvPr/>
        </p:nvSpPr>
        <p:spPr>
          <a:xfrm>
            <a:off x="9068208" y="5713133"/>
            <a:ext cx="2705731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NVIDIA H100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Tensor core GPU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(Confidential mode)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69FDE382-CBA6-EB99-DB8B-ED89A404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Model Encryption for SKR</a:t>
            </a:r>
            <a:endParaRPr lang="en-US" noProof="0" dirty="0"/>
          </a:p>
        </p:txBody>
      </p:sp>
      <p:pic>
        <p:nvPicPr>
          <p:cNvPr id="28" name="Picture 1">
            <a:extLst>
              <a:ext uri="{FF2B5EF4-FFF2-40B4-BE49-F238E27FC236}">
                <a16:creationId xmlns:a16="http://schemas.microsoft.com/office/drawing/2014/main" id="{17AD6835-7BC5-EE43-7FD9-A78869742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970" y="3058132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7519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4FADC-6DCE-729C-0FB3-20621B33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9C984D9-D31B-6732-27B2-6F8BEBE17C59}"/>
              </a:ext>
            </a:extLst>
          </p:cNvPr>
          <p:cNvCxnSpPr>
            <a:cxnSpLocks/>
          </p:cNvCxnSpPr>
          <p:nvPr/>
        </p:nvCxnSpPr>
        <p:spPr>
          <a:xfrm>
            <a:off x="5053920" y="1019202"/>
            <a:ext cx="6338" cy="2921660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76B2589-67E9-9D50-4218-5CBC26371B09}"/>
              </a:ext>
            </a:extLst>
          </p:cNvPr>
          <p:cNvSpPr/>
          <p:nvPr/>
        </p:nvSpPr>
        <p:spPr bwMode="auto">
          <a:xfrm>
            <a:off x="6344166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Service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70B8A15-21F2-3AF6-BB8E-9CAD9AE17730}"/>
              </a:ext>
            </a:extLst>
          </p:cNvPr>
          <p:cNvSpPr/>
          <p:nvPr/>
        </p:nvSpPr>
        <p:spPr bwMode="auto">
          <a:xfrm>
            <a:off x="10269619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Microsoft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Azure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Attestation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F82477-5CEB-B350-E8EF-AF0F7C09195F}"/>
              </a:ext>
            </a:extLst>
          </p:cNvPr>
          <p:cNvSpPr/>
          <p:nvPr/>
        </p:nvSpPr>
        <p:spPr bwMode="auto">
          <a:xfrm>
            <a:off x="6344166" y="2794323"/>
            <a:ext cx="5135733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algn="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rgbClr val="808080"/>
                </a:solidFill>
                <a:latin typeface="Segoe UI"/>
                <a:sym typeface="Arial"/>
              </a:rPr>
              <a:t>   Azure Confidential GPU VM </a:t>
            </a:r>
            <a:r>
              <a:rPr lang="en-US" sz="1600" kern="0" dirty="0">
                <a:solidFill>
                  <a:schemeClr val="accent1"/>
                </a:solidFill>
                <a:latin typeface="Segoe UI"/>
                <a:sym typeface="Arial"/>
              </a:rPr>
              <a:t>-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1394172-4C01-2175-BBD5-DD989EEA0A69}"/>
              </a:ext>
            </a:extLst>
          </p:cNvPr>
          <p:cNvSpPr/>
          <p:nvPr/>
        </p:nvSpPr>
        <p:spPr bwMode="auto">
          <a:xfrm>
            <a:off x="6513266" y="4601202"/>
            <a:ext cx="480104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OS + GPU driver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D19200B-4A75-BE67-BA13-BFA889DAA796}"/>
              </a:ext>
            </a:extLst>
          </p:cNvPr>
          <p:cNvSpPr/>
          <p:nvPr/>
        </p:nvSpPr>
        <p:spPr bwMode="auto">
          <a:xfrm>
            <a:off x="6513267" y="4983761"/>
            <a:ext cx="4801045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 err="1">
                <a:solidFill>
                  <a:sysClr val="windowText" lastClr="000000"/>
                </a:solidFill>
                <a:latin typeface="Segoe UI"/>
                <a:sym typeface="Arial"/>
              </a:rPr>
              <a:t>vTPM</a:t>
            </a:r>
            <a:endParaRPr lang="en-US" sz="1600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9053B81-C310-4B04-C304-F6A47EEC4BAC}"/>
              </a:ext>
            </a:extLst>
          </p:cNvPr>
          <p:cNvSpPr/>
          <p:nvPr/>
        </p:nvSpPr>
        <p:spPr bwMode="auto">
          <a:xfrm>
            <a:off x="6513266" y="3107942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Secure Key Release Application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98B6C251-C822-7F0F-CCB5-A7243B1BF510}"/>
              </a:ext>
            </a:extLst>
          </p:cNvPr>
          <p:cNvSpPr/>
          <p:nvPr/>
        </p:nvSpPr>
        <p:spPr bwMode="auto">
          <a:xfrm>
            <a:off x="6513266" y="3872388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Inference Server 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730B579E-5EBB-C05C-095C-3D31EAFA9686}"/>
              </a:ext>
            </a:extLst>
          </p:cNvPr>
          <p:cNvSpPr/>
          <p:nvPr/>
        </p:nvSpPr>
        <p:spPr bwMode="auto">
          <a:xfrm>
            <a:off x="9224925" y="3250117"/>
            <a:ext cx="2089387" cy="1180813"/>
          </a:xfrm>
          <a:prstGeom prst="roundRect">
            <a:avLst>
              <a:gd name="adj" fmla="val 6044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marL="228594" indent="-228594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b="1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9748C070-1C68-C972-3EC7-92B3CA0544F1}"/>
              </a:ext>
            </a:extLst>
          </p:cNvPr>
          <p:cNvSpPr/>
          <p:nvPr/>
        </p:nvSpPr>
        <p:spPr bwMode="auto">
          <a:xfrm>
            <a:off x="9372342" y="3394968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Encrypted Model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DC349A55-3B95-F864-8F6C-9CACE2C4553B}"/>
              </a:ext>
            </a:extLst>
          </p:cNvPr>
          <p:cNvSpPr/>
          <p:nvPr/>
        </p:nvSpPr>
        <p:spPr bwMode="auto">
          <a:xfrm>
            <a:off x="9372340" y="3940862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Wrapped DEK</a:t>
            </a:r>
          </a:p>
        </p:txBody>
      </p: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1B524FAF-C663-F520-A531-63497DEF201B}"/>
              </a:ext>
            </a:extLst>
          </p:cNvPr>
          <p:cNvCxnSpPr>
            <a:stCxn id="12" idx="2"/>
            <a:endCxn id="25" idx="0"/>
          </p:cNvCxnSpPr>
          <p:nvPr/>
        </p:nvCxnSpPr>
        <p:spPr>
          <a:xfrm rot="16200000" flipH="1">
            <a:off x="6691963" y="2241945"/>
            <a:ext cx="1257270" cy="474724"/>
          </a:xfrm>
          <a:prstGeom prst="bentConnector3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7D2C0DFB-2CE1-46CB-2D42-D7BDBE056245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8654690" y="753943"/>
            <a:ext cx="1257270" cy="345072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6F4FF1CF-5043-3833-C0B0-928A1EA98872}"/>
              </a:ext>
            </a:extLst>
          </p:cNvPr>
          <p:cNvCxnSpPr>
            <a:cxnSpLocks/>
            <a:stCxn id="58" idx="1"/>
            <a:endCxn id="25" idx="3"/>
          </p:cNvCxnSpPr>
          <p:nvPr/>
        </p:nvCxnSpPr>
        <p:spPr>
          <a:xfrm rot="10800000">
            <a:off x="8602653" y="3385944"/>
            <a:ext cx="622272" cy="45458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02B717BC-533F-9B90-CDD2-8CDD93EC173A}"/>
              </a:ext>
            </a:extLst>
          </p:cNvPr>
          <p:cNvCxnSpPr>
            <a:stCxn id="25" idx="2"/>
            <a:endCxn id="41" idx="0"/>
          </p:cNvCxnSpPr>
          <p:nvPr/>
        </p:nvCxnSpPr>
        <p:spPr>
          <a:xfrm>
            <a:off x="7557960" y="3663946"/>
            <a:ext cx="0" cy="208442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raphic 43">
            <a:extLst>
              <a:ext uri="{FF2B5EF4-FFF2-40B4-BE49-F238E27FC236}">
                <a16:creationId xmlns:a16="http://schemas.microsoft.com/office/drawing/2014/main" id="{AF89B7B3-1D08-0D75-5579-7E61EB9D8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583880" y="8015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7" name="Graphic 43">
            <a:extLst>
              <a:ext uri="{FF2B5EF4-FFF2-40B4-BE49-F238E27FC236}">
                <a16:creationId xmlns:a16="http://schemas.microsoft.com/office/drawing/2014/main" id="{EB40C394-8FEB-A91C-2238-06993929F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314313" y="25951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80F7D4C7-7BD5-8858-8449-6A4D902D0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662130" y="801514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4529E007-B168-36EA-0E16-8E30DEBCB08E}"/>
              </a:ext>
            </a:extLst>
          </p:cNvPr>
          <p:cNvSpPr txBox="1">
            <a:spLocks/>
          </p:cNvSpPr>
          <p:nvPr/>
        </p:nvSpPr>
        <p:spPr>
          <a:xfrm>
            <a:off x="2883176" y="5988386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678E7AD9-B63D-E72F-3660-651D26C84260}"/>
              </a:ext>
            </a:extLst>
          </p:cNvPr>
          <p:cNvSpPr txBox="1">
            <a:spLocks/>
          </p:cNvSpPr>
          <p:nvPr/>
        </p:nvSpPr>
        <p:spPr>
          <a:xfrm>
            <a:off x="5116290" y="5988386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49" name="Title 14">
            <a:extLst>
              <a:ext uri="{FF2B5EF4-FFF2-40B4-BE49-F238E27FC236}">
                <a16:creationId xmlns:a16="http://schemas.microsoft.com/office/drawing/2014/main" id="{563DA9A5-E8F1-1036-F433-04DB07FE9F61}"/>
              </a:ext>
            </a:extLst>
          </p:cNvPr>
          <p:cNvSpPr txBox="1">
            <a:spLocks/>
          </p:cNvSpPr>
          <p:nvPr/>
        </p:nvSpPr>
        <p:spPr>
          <a:xfrm>
            <a:off x="9780883" y="1885215"/>
            <a:ext cx="122780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CVM Attestation</a:t>
            </a:r>
          </a:p>
        </p:txBody>
      </p:sp>
      <p:sp>
        <p:nvSpPr>
          <p:cNvPr id="153" name="Title 14">
            <a:extLst>
              <a:ext uri="{FF2B5EF4-FFF2-40B4-BE49-F238E27FC236}">
                <a16:creationId xmlns:a16="http://schemas.microsoft.com/office/drawing/2014/main" id="{54AEF238-50D3-84DD-8612-220F6D0C3D7B}"/>
              </a:ext>
            </a:extLst>
          </p:cNvPr>
          <p:cNvSpPr txBox="1">
            <a:spLocks/>
          </p:cNvSpPr>
          <p:nvPr/>
        </p:nvSpPr>
        <p:spPr>
          <a:xfrm>
            <a:off x="10964195" y="1894925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4" name="Title 14">
            <a:extLst>
              <a:ext uri="{FF2B5EF4-FFF2-40B4-BE49-F238E27FC236}">
                <a16:creationId xmlns:a16="http://schemas.microsoft.com/office/drawing/2014/main" id="{6489E93B-325F-DDA2-6C24-3B391A27D5E2}"/>
              </a:ext>
            </a:extLst>
          </p:cNvPr>
          <p:cNvSpPr txBox="1">
            <a:spLocks/>
          </p:cNvSpPr>
          <p:nvPr/>
        </p:nvSpPr>
        <p:spPr>
          <a:xfrm>
            <a:off x="6225954" y="1927327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5" name="Title 14">
            <a:extLst>
              <a:ext uri="{FF2B5EF4-FFF2-40B4-BE49-F238E27FC236}">
                <a16:creationId xmlns:a16="http://schemas.microsoft.com/office/drawing/2014/main" id="{FBF4C7E4-7C1E-F337-89B3-CF7BAF672942}"/>
              </a:ext>
            </a:extLst>
          </p:cNvPr>
          <p:cNvSpPr txBox="1">
            <a:spLocks/>
          </p:cNvSpPr>
          <p:nvPr/>
        </p:nvSpPr>
        <p:spPr>
          <a:xfrm>
            <a:off x="7097573" y="1921389"/>
            <a:ext cx="82601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1AD7AE5F-BC5C-ECE8-2BCC-D43E9473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4428" y="626137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020203F4-1CB6-1383-6741-0ABF25F43FEA}"/>
              </a:ext>
            </a:extLst>
          </p:cNvPr>
          <p:cNvSpPr txBox="1">
            <a:spLocks/>
          </p:cNvSpPr>
          <p:nvPr/>
        </p:nvSpPr>
        <p:spPr>
          <a:xfrm>
            <a:off x="650062" y="635771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pic>
        <p:nvPicPr>
          <p:cNvPr id="7" name="Graphic 51">
            <a:extLst>
              <a:ext uri="{FF2B5EF4-FFF2-40B4-BE49-F238E27FC236}">
                <a16:creationId xmlns:a16="http://schemas.microsoft.com/office/drawing/2014/main" id="{6503997D-12B7-C5BB-622D-7A5D701B3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065" y="896505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336CF06-165B-8CC0-4A3C-CD51873DB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43" y="896503"/>
            <a:ext cx="245341" cy="293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B3E8D226-3AD2-79EC-A18B-70CA02202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93" y="5883785"/>
            <a:ext cx="647689" cy="44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7CE482EF-FF3E-9118-6774-1FCA59D99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36762" y="5661382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F6FDBCBA-A9F4-39BE-0B3C-DD82DE2687A7}"/>
              </a:ext>
            </a:extLst>
          </p:cNvPr>
          <p:cNvCxnSpPr>
            <a:cxnSpLocks/>
            <a:stCxn id="14" idx="2"/>
            <a:endCxn id="2051" idx="0"/>
          </p:cNvCxnSpPr>
          <p:nvPr/>
        </p:nvCxnSpPr>
        <p:spPr>
          <a:xfrm rot="16200000" flipH="1">
            <a:off x="8727738" y="5699185"/>
            <a:ext cx="368893" cy="3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4">
            <a:extLst>
              <a:ext uri="{FF2B5EF4-FFF2-40B4-BE49-F238E27FC236}">
                <a16:creationId xmlns:a16="http://schemas.microsoft.com/office/drawing/2014/main" id="{490B2B65-95AA-6CD7-4C13-9A9775CDD5DC}"/>
              </a:ext>
            </a:extLst>
          </p:cNvPr>
          <p:cNvSpPr txBox="1">
            <a:spLocks/>
          </p:cNvSpPr>
          <p:nvPr/>
        </p:nvSpPr>
        <p:spPr>
          <a:xfrm>
            <a:off x="9020803" y="5735578"/>
            <a:ext cx="2705731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NVIDIA H100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Tensor core GPU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(Confidential mode)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74911DE-640F-A78E-78CD-B13EE70AEEEB}"/>
              </a:ext>
            </a:extLst>
          </p:cNvPr>
          <p:cNvSpPr/>
          <p:nvPr/>
        </p:nvSpPr>
        <p:spPr bwMode="auto">
          <a:xfrm>
            <a:off x="1727221" y="3869212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Client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ABB2095A-8341-5C3D-DB4F-D0BB790A5218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043524" y="4150748"/>
            <a:ext cx="1757076" cy="713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DB22337-BDA2-6610-D0E3-D8EB544F41EB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5317067" y="4150390"/>
            <a:ext cx="1196199" cy="392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igne de multiplication 28">
            <a:extLst>
              <a:ext uri="{FF2B5EF4-FFF2-40B4-BE49-F238E27FC236}">
                <a16:creationId xmlns:a16="http://schemas.microsoft.com/office/drawing/2014/main" id="{D83CB6E5-9732-C186-608D-3E9D3C913104}"/>
              </a:ext>
            </a:extLst>
          </p:cNvPr>
          <p:cNvSpPr/>
          <p:nvPr/>
        </p:nvSpPr>
        <p:spPr bwMode="auto">
          <a:xfrm>
            <a:off x="4449089" y="3510604"/>
            <a:ext cx="1229314" cy="1294558"/>
          </a:xfrm>
          <a:prstGeom prst="mathMultiply">
            <a:avLst>
              <a:gd name="adj1" fmla="val 9640"/>
            </a:avLst>
          </a:prstGeom>
          <a:gradFill flip="none" rotWithShape="1">
            <a:gsLst>
              <a:gs pos="0">
                <a:srgbClr val="0070C0"/>
              </a:gs>
              <a:gs pos="69000">
                <a:srgbClr val="7030A0"/>
              </a:gs>
              <a:gs pos="100000">
                <a:srgbClr val="D848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fr-FR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3376885-898B-7BD0-2557-2B9DD8C99418}"/>
              </a:ext>
            </a:extLst>
          </p:cNvPr>
          <p:cNvCxnSpPr>
            <a:cxnSpLocks/>
          </p:cNvCxnSpPr>
          <p:nvPr/>
        </p:nvCxnSpPr>
        <p:spPr>
          <a:xfrm flipH="1" flipV="1">
            <a:off x="5063746" y="4378325"/>
            <a:ext cx="7432" cy="1947715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itre 1">
            <a:extLst>
              <a:ext uri="{FF2B5EF4-FFF2-40B4-BE49-F238E27FC236}">
                <a16:creationId xmlns:a16="http://schemas.microsoft.com/office/drawing/2014/main" id="{E37353BE-5BFD-41A4-93F0-1000A706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AI Model Inference with SKR</a:t>
            </a:r>
            <a:endParaRPr lang="en-US" noProof="0" dirty="0"/>
          </a:p>
        </p:txBody>
      </p:sp>
      <p:pic>
        <p:nvPicPr>
          <p:cNvPr id="43" name="Picture 1">
            <a:extLst>
              <a:ext uri="{FF2B5EF4-FFF2-40B4-BE49-F238E27FC236}">
                <a16:creationId xmlns:a16="http://schemas.microsoft.com/office/drawing/2014/main" id="{514FBD41-A91D-96BA-C4EF-4E6C0E8AD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848" y="3154141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048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59D5-62D8-005E-1590-E00FDF29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399BDC2-3C64-8585-1961-D84C6549753A}"/>
              </a:ext>
            </a:extLst>
          </p:cNvPr>
          <p:cNvCxnSpPr>
            <a:cxnSpLocks/>
          </p:cNvCxnSpPr>
          <p:nvPr/>
        </p:nvCxnSpPr>
        <p:spPr>
          <a:xfrm>
            <a:off x="6032163" y="1007041"/>
            <a:ext cx="0" cy="5338516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F18AA12-41B2-48B3-49F5-6C3DB44ADE58}"/>
              </a:ext>
            </a:extLst>
          </p:cNvPr>
          <p:cNvSpPr/>
          <p:nvPr/>
        </p:nvSpPr>
        <p:spPr bwMode="auto">
          <a:xfrm>
            <a:off x="6344166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Service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A97C82E-665F-F42A-2045-2B9567CBA6EC}"/>
              </a:ext>
            </a:extLst>
          </p:cNvPr>
          <p:cNvSpPr/>
          <p:nvPr/>
        </p:nvSpPr>
        <p:spPr bwMode="auto">
          <a:xfrm>
            <a:off x="10269619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Microsoft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Azure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Attestation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E404DCE-5F44-CBEE-90FC-EF436637618B}"/>
              </a:ext>
            </a:extLst>
          </p:cNvPr>
          <p:cNvSpPr/>
          <p:nvPr/>
        </p:nvSpPr>
        <p:spPr bwMode="auto">
          <a:xfrm>
            <a:off x="6344166" y="2794323"/>
            <a:ext cx="5135733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algn="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rgbClr val="808080"/>
                </a:solidFill>
                <a:latin typeface="Segoe UI"/>
                <a:sym typeface="Arial"/>
              </a:rPr>
              <a:t>   Azure Confidential GPU VM </a:t>
            </a:r>
            <a:r>
              <a:rPr lang="en-US" sz="1600" kern="0" dirty="0">
                <a:solidFill>
                  <a:schemeClr val="accent1"/>
                </a:solidFill>
                <a:sym typeface="Arial"/>
              </a:rPr>
              <a:t>-</a:t>
            </a:r>
            <a:endParaRPr lang="en-US" sz="1600" kern="0" dirty="0">
              <a:solidFill>
                <a:srgbClr val="808080"/>
              </a:solidFill>
              <a:latin typeface="Segoe UI"/>
              <a:sym typeface="Arial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2ED4AC3-514A-153A-E8EA-3244396E46AB}"/>
              </a:ext>
            </a:extLst>
          </p:cNvPr>
          <p:cNvSpPr/>
          <p:nvPr/>
        </p:nvSpPr>
        <p:spPr bwMode="auto">
          <a:xfrm>
            <a:off x="6513266" y="4601202"/>
            <a:ext cx="480104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OS + GPU driver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B46F7AA-C567-FE7F-A512-3D128B41D515}"/>
              </a:ext>
            </a:extLst>
          </p:cNvPr>
          <p:cNvSpPr/>
          <p:nvPr/>
        </p:nvSpPr>
        <p:spPr bwMode="auto">
          <a:xfrm>
            <a:off x="6513267" y="4983761"/>
            <a:ext cx="4801045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 err="1">
                <a:solidFill>
                  <a:sysClr val="windowText" lastClr="000000"/>
                </a:solidFill>
                <a:latin typeface="Segoe UI"/>
                <a:sym typeface="Arial"/>
              </a:rPr>
              <a:t>vTPM</a:t>
            </a:r>
            <a:endParaRPr lang="en-US" sz="1600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07169B7-30A4-660B-A1FB-458C295CCCE7}"/>
              </a:ext>
            </a:extLst>
          </p:cNvPr>
          <p:cNvSpPr/>
          <p:nvPr/>
        </p:nvSpPr>
        <p:spPr bwMode="auto">
          <a:xfrm>
            <a:off x="6513266" y="3107942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Secure Key Release Application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D97239B1-F445-061C-D52A-8DB9B2549D37}"/>
              </a:ext>
            </a:extLst>
          </p:cNvPr>
          <p:cNvSpPr/>
          <p:nvPr/>
        </p:nvSpPr>
        <p:spPr bwMode="auto">
          <a:xfrm>
            <a:off x="6513266" y="3872388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Inference Server 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1EF4B94-DECE-2493-C111-B66AD4E3B3F1}"/>
              </a:ext>
            </a:extLst>
          </p:cNvPr>
          <p:cNvSpPr/>
          <p:nvPr/>
        </p:nvSpPr>
        <p:spPr bwMode="auto">
          <a:xfrm>
            <a:off x="9224925" y="3250117"/>
            <a:ext cx="2089387" cy="1180813"/>
          </a:xfrm>
          <a:prstGeom prst="roundRect">
            <a:avLst>
              <a:gd name="adj" fmla="val 6044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marL="228594" indent="-228594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b="1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0198AAE3-CF9C-8043-6550-BAA2E456F996}"/>
              </a:ext>
            </a:extLst>
          </p:cNvPr>
          <p:cNvSpPr/>
          <p:nvPr/>
        </p:nvSpPr>
        <p:spPr bwMode="auto">
          <a:xfrm>
            <a:off x="9372342" y="3394968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Encrypted Model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DCFADE8D-A457-81D3-3E2F-F4D029323F47}"/>
              </a:ext>
            </a:extLst>
          </p:cNvPr>
          <p:cNvSpPr/>
          <p:nvPr/>
        </p:nvSpPr>
        <p:spPr bwMode="auto">
          <a:xfrm>
            <a:off x="9372340" y="3940862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Wrapped DEK</a:t>
            </a:r>
          </a:p>
        </p:txBody>
      </p: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D0D73B45-6F88-9273-4432-BAAC25467742}"/>
              </a:ext>
            </a:extLst>
          </p:cNvPr>
          <p:cNvCxnSpPr>
            <a:stCxn id="12" idx="2"/>
            <a:endCxn id="25" idx="0"/>
          </p:cNvCxnSpPr>
          <p:nvPr/>
        </p:nvCxnSpPr>
        <p:spPr>
          <a:xfrm rot="16200000" flipH="1">
            <a:off x="6691963" y="2241945"/>
            <a:ext cx="1257270" cy="474724"/>
          </a:xfrm>
          <a:prstGeom prst="bentConnector3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9089715C-8F8C-31A4-7F46-130CA844C57E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8654690" y="753943"/>
            <a:ext cx="1257270" cy="345072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59FE58EC-3794-FD57-F203-72A0FFDD460E}"/>
              </a:ext>
            </a:extLst>
          </p:cNvPr>
          <p:cNvCxnSpPr>
            <a:cxnSpLocks/>
            <a:stCxn id="58" idx="1"/>
            <a:endCxn id="25" idx="3"/>
          </p:cNvCxnSpPr>
          <p:nvPr/>
        </p:nvCxnSpPr>
        <p:spPr>
          <a:xfrm rot="10800000">
            <a:off x="8602653" y="3385944"/>
            <a:ext cx="622272" cy="45458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7C2D39D1-0F8D-8DAD-4F2B-9168394E5ACD}"/>
              </a:ext>
            </a:extLst>
          </p:cNvPr>
          <p:cNvCxnSpPr>
            <a:stCxn id="25" idx="2"/>
            <a:endCxn id="41" idx="0"/>
          </p:cNvCxnSpPr>
          <p:nvPr/>
        </p:nvCxnSpPr>
        <p:spPr>
          <a:xfrm>
            <a:off x="7557960" y="3663946"/>
            <a:ext cx="0" cy="208442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raphic 43">
            <a:extLst>
              <a:ext uri="{FF2B5EF4-FFF2-40B4-BE49-F238E27FC236}">
                <a16:creationId xmlns:a16="http://schemas.microsoft.com/office/drawing/2014/main" id="{CE292770-C949-E584-E21B-5C36D9F2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583880" y="8015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7" name="Graphic 43">
            <a:extLst>
              <a:ext uri="{FF2B5EF4-FFF2-40B4-BE49-F238E27FC236}">
                <a16:creationId xmlns:a16="http://schemas.microsoft.com/office/drawing/2014/main" id="{99B52A0F-537B-9000-C319-770EA06C4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314313" y="25951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5D9D84EA-6F54-47ED-EE8D-93EE4FB27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662130" y="801514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C85D1746-7A75-91FB-6EC8-C3D637A58357}"/>
              </a:ext>
            </a:extLst>
          </p:cNvPr>
          <p:cNvSpPr txBox="1">
            <a:spLocks/>
          </p:cNvSpPr>
          <p:nvPr/>
        </p:nvSpPr>
        <p:spPr>
          <a:xfrm>
            <a:off x="3843903" y="5988528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5A5D2E40-ECB0-55C6-54B2-2E41A97F37EC}"/>
              </a:ext>
            </a:extLst>
          </p:cNvPr>
          <p:cNvSpPr txBox="1">
            <a:spLocks/>
          </p:cNvSpPr>
          <p:nvPr/>
        </p:nvSpPr>
        <p:spPr>
          <a:xfrm>
            <a:off x="6032163" y="6001335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49" name="Title 14">
            <a:extLst>
              <a:ext uri="{FF2B5EF4-FFF2-40B4-BE49-F238E27FC236}">
                <a16:creationId xmlns:a16="http://schemas.microsoft.com/office/drawing/2014/main" id="{C97B757D-0548-7823-0CFA-777B2A1C7827}"/>
              </a:ext>
            </a:extLst>
          </p:cNvPr>
          <p:cNvSpPr txBox="1">
            <a:spLocks/>
          </p:cNvSpPr>
          <p:nvPr/>
        </p:nvSpPr>
        <p:spPr>
          <a:xfrm>
            <a:off x="9780883" y="1885215"/>
            <a:ext cx="122780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CVM Attestation</a:t>
            </a:r>
          </a:p>
        </p:txBody>
      </p:sp>
      <p:sp>
        <p:nvSpPr>
          <p:cNvPr id="153" name="Title 14">
            <a:extLst>
              <a:ext uri="{FF2B5EF4-FFF2-40B4-BE49-F238E27FC236}">
                <a16:creationId xmlns:a16="http://schemas.microsoft.com/office/drawing/2014/main" id="{2BDAA1A9-18DA-6ACC-CE8F-680FB29D51C4}"/>
              </a:ext>
            </a:extLst>
          </p:cNvPr>
          <p:cNvSpPr txBox="1">
            <a:spLocks/>
          </p:cNvSpPr>
          <p:nvPr/>
        </p:nvSpPr>
        <p:spPr>
          <a:xfrm>
            <a:off x="10964195" y="1894925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4" name="Title 14">
            <a:extLst>
              <a:ext uri="{FF2B5EF4-FFF2-40B4-BE49-F238E27FC236}">
                <a16:creationId xmlns:a16="http://schemas.microsoft.com/office/drawing/2014/main" id="{3E4D105B-C739-3536-9135-B61A1F33D1B3}"/>
              </a:ext>
            </a:extLst>
          </p:cNvPr>
          <p:cNvSpPr txBox="1">
            <a:spLocks/>
          </p:cNvSpPr>
          <p:nvPr/>
        </p:nvSpPr>
        <p:spPr>
          <a:xfrm>
            <a:off x="6225954" y="1927327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5" name="Title 14">
            <a:extLst>
              <a:ext uri="{FF2B5EF4-FFF2-40B4-BE49-F238E27FC236}">
                <a16:creationId xmlns:a16="http://schemas.microsoft.com/office/drawing/2014/main" id="{EDB6CB28-E0A3-CA14-B239-7F85426FBBB8}"/>
              </a:ext>
            </a:extLst>
          </p:cNvPr>
          <p:cNvSpPr txBox="1">
            <a:spLocks/>
          </p:cNvSpPr>
          <p:nvPr/>
        </p:nvSpPr>
        <p:spPr>
          <a:xfrm>
            <a:off x="7097573" y="1921389"/>
            <a:ext cx="82601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DF62180F-F850-5CC4-50F0-377FE33D0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4428" y="626137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C56524E5-6EAB-8033-4B5B-8EA4F5868F69}"/>
              </a:ext>
            </a:extLst>
          </p:cNvPr>
          <p:cNvSpPr txBox="1">
            <a:spLocks/>
          </p:cNvSpPr>
          <p:nvPr/>
        </p:nvSpPr>
        <p:spPr>
          <a:xfrm>
            <a:off x="650062" y="635771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pic>
        <p:nvPicPr>
          <p:cNvPr id="7" name="Graphic 51">
            <a:extLst>
              <a:ext uri="{FF2B5EF4-FFF2-40B4-BE49-F238E27FC236}">
                <a16:creationId xmlns:a16="http://schemas.microsoft.com/office/drawing/2014/main" id="{43BB332A-8FB7-1E64-D48F-D3702CE7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065" y="896505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5CD5C8C-9D89-04B1-30C0-1FE2BD42C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43" y="896503"/>
            <a:ext cx="245341" cy="293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DE093349-527B-A10B-D5F0-DA0A92C04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93" y="5883785"/>
            <a:ext cx="647689" cy="44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4E2680C8-064A-9FE3-A36E-9E401B6ED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36762" y="5661382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BF0B297C-D5BD-61BD-ED45-5DC688024985}"/>
              </a:ext>
            </a:extLst>
          </p:cNvPr>
          <p:cNvCxnSpPr>
            <a:cxnSpLocks/>
            <a:stCxn id="14" idx="2"/>
            <a:endCxn id="2051" idx="0"/>
          </p:cNvCxnSpPr>
          <p:nvPr/>
        </p:nvCxnSpPr>
        <p:spPr>
          <a:xfrm rot="16200000" flipH="1">
            <a:off x="8727738" y="5699185"/>
            <a:ext cx="368893" cy="3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4">
            <a:extLst>
              <a:ext uri="{FF2B5EF4-FFF2-40B4-BE49-F238E27FC236}">
                <a16:creationId xmlns:a16="http://schemas.microsoft.com/office/drawing/2014/main" id="{82680C80-B8CB-AC5C-1156-41276255B484}"/>
              </a:ext>
            </a:extLst>
          </p:cNvPr>
          <p:cNvSpPr txBox="1">
            <a:spLocks/>
          </p:cNvSpPr>
          <p:nvPr/>
        </p:nvSpPr>
        <p:spPr>
          <a:xfrm>
            <a:off x="9020803" y="5735578"/>
            <a:ext cx="2705731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NVIDIA H100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Tensor core GPU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(Confidential mode)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60958CAB-E470-94E0-E48F-59F2A9E6A822}"/>
              </a:ext>
            </a:extLst>
          </p:cNvPr>
          <p:cNvSpPr/>
          <p:nvPr/>
        </p:nvSpPr>
        <p:spPr bwMode="auto">
          <a:xfrm>
            <a:off x="1727221" y="3869212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Client</a:t>
            </a:r>
          </a:p>
        </p:txBody>
      </p:sp>
      <p:cxnSp>
        <p:nvCxnSpPr>
          <p:cNvPr id="52" name="Connecteur : en angle 51">
            <a:extLst>
              <a:ext uri="{FF2B5EF4-FFF2-40B4-BE49-F238E27FC236}">
                <a16:creationId xmlns:a16="http://schemas.microsoft.com/office/drawing/2014/main" id="{0DDE168C-67F2-AB61-72CC-690AF627BDE7}"/>
              </a:ext>
            </a:extLst>
          </p:cNvPr>
          <p:cNvCxnSpPr>
            <a:cxnSpLocks/>
            <a:stCxn id="41" idx="1"/>
            <a:endCxn id="49" idx="3"/>
          </p:cNvCxnSpPr>
          <p:nvPr/>
        </p:nvCxnSpPr>
        <p:spPr>
          <a:xfrm rot="10800000" flipV="1">
            <a:off x="3043524" y="4150390"/>
            <a:ext cx="3469742" cy="3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 14">
            <a:extLst>
              <a:ext uri="{FF2B5EF4-FFF2-40B4-BE49-F238E27FC236}">
                <a16:creationId xmlns:a16="http://schemas.microsoft.com/office/drawing/2014/main" id="{D37A6BD2-6A25-95BF-3E51-91C732D942A7}"/>
              </a:ext>
            </a:extLst>
          </p:cNvPr>
          <p:cNvSpPr txBox="1">
            <a:spLocks/>
          </p:cNvSpPr>
          <p:nvPr/>
        </p:nvSpPr>
        <p:spPr>
          <a:xfrm>
            <a:off x="3656632" y="3862010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TLS Tunnel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F56BEF-656D-F911-4474-1DE2B551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AI Model Inference with SKR</a:t>
            </a:r>
            <a:endParaRPr lang="en-US" noProof="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39EC6F9-09F0-8D19-2E6E-83C02250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848" y="3154141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6062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AAF7-7264-A85E-C0BE-FD587788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F7779BAA-F318-CE63-0234-A4A6CDB2A188}"/>
              </a:ext>
            </a:extLst>
          </p:cNvPr>
          <p:cNvCxnSpPr>
            <a:cxnSpLocks/>
            <a:stCxn id="15" idx="1"/>
            <a:endCxn id="15" idx="2"/>
          </p:cNvCxnSpPr>
          <p:nvPr/>
        </p:nvCxnSpPr>
        <p:spPr>
          <a:xfrm rot="10800000" flipH="1" flipV="1">
            <a:off x="2819622" y="2875478"/>
            <a:ext cx="721580" cy="281535"/>
          </a:xfrm>
          <a:prstGeom prst="curvedConnector4">
            <a:avLst>
              <a:gd name="adj1" fmla="val -42241"/>
              <a:gd name="adj2" fmla="val 314272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FFC1AB98-E249-669E-D3B1-9FEEC06D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GPU Accelerated AI Inferencing </a:t>
            </a:r>
            <a:r>
              <a:rPr lang="en-US" noProof="0" dirty="0"/>
              <a:t>Architecture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D9783F-48D4-5A9E-DDB7-121C3BD58AC4}"/>
              </a:ext>
            </a:extLst>
          </p:cNvPr>
          <p:cNvCxnSpPr>
            <a:cxnSpLocks/>
          </p:cNvCxnSpPr>
          <p:nvPr/>
        </p:nvCxnSpPr>
        <p:spPr>
          <a:xfrm>
            <a:off x="6032163" y="1007041"/>
            <a:ext cx="0" cy="5338516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73147F0-4D02-BE2E-9E89-DFDEDC8EA458}"/>
              </a:ext>
            </a:extLst>
          </p:cNvPr>
          <p:cNvSpPr/>
          <p:nvPr/>
        </p:nvSpPr>
        <p:spPr bwMode="auto">
          <a:xfrm>
            <a:off x="619719" y="2593944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AI model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BD588F7-0047-429D-6679-DB1EBBBFEF0D}"/>
              </a:ext>
            </a:extLst>
          </p:cNvPr>
          <p:cNvSpPr/>
          <p:nvPr/>
        </p:nvSpPr>
        <p:spPr bwMode="auto">
          <a:xfrm>
            <a:off x="6344166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Service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B712275-61C2-CEA6-A0BD-E2FE03B29F05}"/>
              </a:ext>
            </a:extLst>
          </p:cNvPr>
          <p:cNvSpPr/>
          <p:nvPr/>
        </p:nvSpPr>
        <p:spPr bwMode="auto">
          <a:xfrm>
            <a:off x="10269619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Microsoft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Azure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Attestation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C952A85-071E-FF3E-D637-FD5DF98F8FDD}"/>
              </a:ext>
            </a:extLst>
          </p:cNvPr>
          <p:cNvSpPr/>
          <p:nvPr/>
        </p:nvSpPr>
        <p:spPr bwMode="auto">
          <a:xfrm>
            <a:off x="6344166" y="2794323"/>
            <a:ext cx="5135733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algn="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rgbClr val="808080"/>
                </a:solidFill>
                <a:latin typeface="Segoe UI"/>
                <a:sym typeface="Arial"/>
              </a:rPr>
              <a:t>   Azure Confidential GPU VM </a:t>
            </a:r>
            <a:r>
              <a:rPr lang="en-US" sz="1600" kern="0" dirty="0">
                <a:solidFill>
                  <a:schemeClr val="accent1"/>
                </a:solidFill>
                <a:sym typeface="Arial"/>
              </a:rPr>
              <a:t>-</a:t>
            </a:r>
            <a:endParaRPr lang="en-US" sz="1600" kern="0" dirty="0">
              <a:solidFill>
                <a:srgbClr val="808080"/>
              </a:solidFill>
              <a:latin typeface="Segoe UI"/>
              <a:sym typeface="Arial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125A486-1965-F4BF-93ED-15AE8A24C00D}"/>
              </a:ext>
            </a:extLst>
          </p:cNvPr>
          <p:cNvSpPr/>
          <p:nvPr/>
        </p:nvSpPr>
        <p:spPr bwMode="auto">
          <a:xfrm>
            <a:off x="2819622" y="2593944"/>
            <a:ext cx="1443160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Model Encrypt Application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4299479-20BF-DF42-EA0B-386BB07FE3DC}"/>
              </a:ext>
            </a:extLst>
          </p:cNvPr>
          <p:cNvSpPr/>
          <p:nvPr/>
        </p:nvSpPr>
        <p:spPr bwMode="auto">
          <a:xfrm>
            <a:off x="6513266" y="4601202"/>
            <a:ext cx="480104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OS + GPU driver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8F8F439-8587-6B43-089A-3B9F8B68DC24}"/>
              </a:ext>
            </a:extLst>
          </p:cNvPr>
          <p:cNvSpPr/>
          <p:nvPr/>
        </p:nvSpPr>
        <p:spPr bwMode="auto">
          <a:xfrm>
            <a:off x="6513267" y="4983761"/>
            <a:ext cx="4801045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 err="1">
                <a:solidFill>
                  <a:sysClr val="windowText" lastClr="000000"/>
                </a:solidFill>
                <a:latin typeface="Segoe UI"/>
                <a:sym typeface="Arial"/>
              </a:rPr>
              <a:t>vTPM</a:t>
            </a:r>
            <a:endParaRPr lang="en-US" sz="1600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C2BF646-06FD-80B4-D10F-063764B53EE2}"/>
              </a:ext>
            </a:extLst>
          </p:cNvPr>
          <p:cNvSpPr/>
          <p:nvPr/>
        </p:nvSpPr>
        <p:spPr bwMode="auto">
          <a:xfrm>
            <a:off x="6513266" y="3107942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Secure Key Release Application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5C345D7E-3549-69A1-6FE2-3B5E4C2914B8}"/>
              </a:ext>
            </a:extLst>
          </p:cNvPr>
          <p:cNvSpPr/>
          <p:nvPr/>
        </p:nvSpPr>
        <p:spPr bwMode="auto">
          <a:xfrm>
            <a:off x="6513266" y="3872388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Inference Server 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B0FE6C04-5B19-CE2A-246D-2FC578A3D045}"/>
              </a:ext>
            </a:extLst>
          </p:cNvPr>
          <p:cNvSpPr/>
          <p:nvPr/>
        </p:nvSpPr>
        <p:spPr bwMode="auto">
          <a:xfrm>
            <a:off x="9224925" y="3250117"/>
            <a:ext cx="2089387" cy="1180813"/>
          </a:xfrm>
          <a:prstGeom prst="roundRect">
            <a:avLst>
              <a:gd name="adj" fmla="val 6044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marL="228594" indent="-228594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b="1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1CEE01F4-511B-7BC8-3626-E0637A3CDC5F}"/>
              </a:ext>
            </a:extLst>
          </p:cNvPr>
          <p:cNvSpPr/>
          <p:nvPr/>
        </p:nvSpPr>
        <p:spPr bwMode="auto">
          <a:xfrm>
            <a:off x="9372342" y="3394968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Encrypted Model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F99251C7-561D-481C-226D-BC6975CE47E4}"/>
              </a:ext>
            </a:extLst>
          </p:cNvPr>
          <p:cNvSpPr/>
          <p:nvPr/>
        </p:nvSpPr>
        <p:spPr bwMode="auto">
          <a:xfrm>
            <a:off x="9372340" y="3940862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prstClr val="white"/>
                </a:solidFill>
                <a:latin typeface="Segoe UI"/>
                <a:sym typeface="Arial"/>
              </a:rPr>
              <a:t>Wrapped DEK</a:t>
            </a:r>
          </a:p>
        </p:txBody>
      </p: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D8DD3D65-D81B-5213-20AE-4612E1BDD2D1}"/>
              </a:ext>
            </a:extLst>
          </p:cNvPr>
          <p:cNvCxnSpPr>
            <a:stCxn id="12" idx="2"/>
            <a:endCxn id="25" idx="0"/>
          </p:cNvCxnSpPr>
          <p:nvPr/>
        </p:nvCxnSpPr>
        <p:spPr>
          <a:xfrm rot="16200000" flipH="1">
            <a:off x="6691963" y="2241945"/>
            <a:ext cx="1257270" cy="474724"/>
          </a:xfrm>
          <a:prstGeom prst="bentConnector3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2F52AB3B-7721-7C6D-75A0-DCF25DF8547D}"/>
              </a:ext>
            </a:extLst>
          </p:cNvPr>
          <p:cNvCxnSpPr>
            <a:cxnSpLocks/>
            <a:stCxn id="12" idx="1"/>
            <a:endCxn id="15" idx="0"/>
          </p:cNvCxnSpPr>
          <p:nvPr/>
        </p:nvCxnSpPr>
        <p:spPr>
          <a:xfrm rot="10800000" flipV="1">
            <a:off x="3541202" y="1428856"/>
            <a:ext cx="2802964" cy="1165087"/>
          </a:xfrm>
          <a:prstGeom prst="bentConnector2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130D8AE2-F8A7-5182-AB16-AC403C14CC48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1936022" y="2875479"/>
            <a:ext cx="883601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AC8C1DE-820B-74FC-F583-E756CFEFC09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262782" y="2875480"/>
            <a:ext cx="20841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08301CB2-E745-798F-872A-34464C4FFB7E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8654690" y="753943"/>
            <a:ext cx="1257270" cy="345072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E8E2F4CA-1A9C-1ABB-E8A2-EE5E78DA9C21}"/>
              </a:ext>
            </a:extLst>
          </p:cNvPr>
          <p:cNvCxnSpPr>
            <a:cxnSpLocks/>
            <a:stCxn id="58" idx="1"/>
            <a:endCxn id="25" idx="3"/>
          </p:cNvCxnSpPr>
          <p:nvPr/>
        </p:nvCxnSpPr>
        <p:spPr>
          <a:xfrm rot="10800000">
            <a:off x="8602653" y="3385944"/>
            <a:ext cx="622272" cy="45458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AF706425-08BB-E1C7-E265-7CF015499C88}"/>
              </a:ext>
            </a:extLst>
          </p:cNvPr>
          <p:cNvCxnSpPr>
            <a:stCxn id="25" idx="2"/>
            <a:endCxn id="41" idx="0"/>
          </p:cNvCxnSpPr>
          <p:nvPr/>
        </p:nvCxnSpPr>
        <p:spPr>
          <a:xfrm>
            <a:off x="7557960" y="3663946"/>
            <a:ext cx="0" cy="208442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raphic 43">
            <a:extLst>
              <a:ext uri="{FF2B5EF4-FFF2-40B4-BE49-F238E27FC236}">
                <a16:creationId xmlns:a16="http://schemas.microsoft.com/office/drawing/2014/main" id="{E75E2674-17F0-F15B-59B7-979817209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583880" y="8015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7" name="Graphic 43">
            <a:extLst>
              <a:ext uri="{FF2B5EF4-FFF2-40B4-BE49-F238E27FC236}">
                <a16:creationId xmlns:a16="http://schemas.microsoft.com/office/drawing/2014/main" id="{536AAB7F-4CA5-1F85-E76B-3F301CD53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314313" y="25951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C370D53E-ADD3-AD76-348A-FF6033CC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662130" y="801514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50DF4F3F-5B5A-CA87-3AAA-CBCAE03B7205}"/>
              </a:ext>
            </a:extLst>
          </p:cNvPr>
          <p:cNvSpPr txBox="1">
            <a:spLocks/>
          </p:cNvSpPr>
          <p:nvPr/>
        </p:nvSpPr>
        <p:spPr>
          <a:xfrm>
            <a:off x="3856561" y="5976224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F7894B48-FE87-AD03-7610-0B49A2B9782D}"/>
              </a:ext>
            </a:extLst>
          </p:cNvPr>
          <p:cNvSpPr txBox="1">
            <a:spLocks/>
          </p:cNvSpPr>
          <p:nvPr/>
        </p:nvSpPr>
        <p:spPr>
          <a:xfrm>
            <a:off x="6032163" y="6001335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45" name="Title 14">
            <a:extLst>
              <a:ext uri="{FF2B5EF4-FFF2-40B4-BE49-F238E27FC236}">
                <a16:creationId xmlns:a16="http://schemas.microsoft.com/office/drawing/2014/main" id="{2A8BEF94-D3B8-66D9-1D90-4EF9A10FD7E7}"/>
              </a:ext>
            </a:extLst>
          </p:cNvPr>
          <p:cNvSpPr txBox="1">
            <a:spLocks/>
          </p:cNvSpPr>
          <p:nvPr/>
        </p:nvSpPr>
        <p:spPr>
          <a:xfrm>
            <a:off x="1847236" y="3756066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Generate Unique DEK</a:t>
            </a:r>
          </a:p>
        </p:txBody>
      </p:sp>
      <p:sp>
        <p:nvSpPr>
          <p:cNvPr id="146" name="Title 14">
            <a:extLst>
              <a:ext uri="{FF2B5EF4-FFF2-40B4-BE49-F238E27FC236}">
                <a16:creationId xmlns:a16="http://schemas.microsoft.com/office/drawing/2014/main" id="{3FB071B7-2C63-560D-7868-DC6CE4A450C5}"/>
              </a:ext>
            </a:extLst>
          </p:cNvPr>
          <p:cNvSpPr txBox="1">
            <a:spLocks/>
          </p:cNvSpPr>
          <p:nvPr/>
        </p:nvSpPr>
        <p:spPr>
          <a:xfrm>
            <a:off x="3761067" y="1159775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47" name="Title 14">
            <a:extLst>
              <a:ext uri="{FF2B5EF4-FFF2-40B4-BE49-F238E27FC236}">
                <a16:creationId xmlns:a16="http://schemas.microsoft.com/office/drawing/2014/main" id="{A42A43F7-65CC-0357-D37E-D456B4811CEC}"/>
              </a:ext>
            </a:extLst>
          </p:cNvPr>
          <p:cNvSpPr txBox="1">
            <a:spLocks/>
          </p:cNvSpPr>
          <p:nvPr/>
        </p:nvSpPr>
        <p:spPr>
          <a:xfrm>
            <a:off x="4014083" y="2552603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Encrypted Model</a:t>
            </a:r>
          </a:p>
        </p:txBody>
      </p:sp>
      <p:sp>
        <p:nvSpPr>
          <p:cNvPr id="148" name="Title 14">
            <a:extLst>
              <a:ext uri="{FF2B5EF4-FFF2-40B4-BE49-F238E27FC236}">
                <a16:creationId xmlns:a16="http://schemas.microsoft.com/office/drawing/2014/main" id="{19C9F238-A115-59E1-9CD6-FE1D01D55510}"/>
              </a:ext>
            </a:extLst>
          </p:cNvPr>
          <p:cNvSpPr txBox="1">
            <a:spLocks/>
          </p:cNvSpPr>
          <p:nvPr/>
        </p:nvSpPr>
        <p:spPr>
          <a:xfrm>
            <a:off x="4029900" y="2969189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Wrapped DEK</a:t>
            </a:r>
          </a:p>
        </p:txBody>
      </p:sp>
      <p:sp>
        <p:nvSpPr>
          <p:cNvPr id="149" name="Title 14">
            <a:extLst>
              <a:ext uri="{FF2B5EF4-FFF2-40B4-BE49-F238E27FC236}">
                <a16:creationId xmlns:a16="http://schemas.microsoft.com/office/drawing/2014/main" id="{63FA82B6-67C2-CB01-0AA5-4A485AC1D3CC}"/>
              </a:ext>
            </a:extLst>
          </p:cNvPr>
          <p:cNvSpPr txBox="1">
            <a:spLocks/>
          </p:cNvSpPr>
          <p:nvPr/>
        </p:nvSpPr>
        <p:spPr>
          <a:xfrm>
            <a:off x="9780883" y="1885215"/>
            <a:ext cx="122780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CVM Attestation</a:t>
            </a:r>
          </a:p>
        </p:txBody>
      </p:sp>
      <p:sp>
        <p:nvSpPr>
          <p:cNvPr id="153" name="Title 14">
            <a:extLst>
              <a:ext uri="{FF2B5EF4-FFF2-40B4-BE49-F238E27FC236}">
                <a16:creationId xmlns:a16="http://schemas.microsoft.com/office/drawing/2014/main" id="{B041E4D1-3D9F-42B0-9561-E6AE05765BE4}"/>
              </a:ext>
            </a:extLst>
          </p:cNvPr>
          <p:cNvSpPr txBox="1">
            <a:spLocks/>
          </p:cNvSpPr>
          <p:nvPr/>
        </p:nvSpPr>
        <p:spPr>
          <a:xfrm>
            <a:off x="10964195" y="1894925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4" name="Title 14">
            <a:extLst>
              <a:ext uri="{FF2B5EF4-FFF2-40B4-BE49-F238E27FC236}">
                <a16:creationId xmlns:a16="http://schemas.microsoft.com/office/drawing/2014/main" id="{2F993522-EB35-BF39-E1BF-51AAF9801B76}"/>
              </a:ext>
            </a:extLst>
          </p:cNvPr>
          <p:cNvSpPr txBox="1">
            <a:spLocks/>
          </p:cNvSpPr>
          <p:nvPr/>
        </p:nvSpPr>
        <p:spPr>
          <a:xfrm>
            <a:off x="6225954" y="1927327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MAA Token</a:t>
            </a:r>
          </a:p>
        </p:txBody>
      </p:sp>
      <p:sp>
        <p:nvSpPr>
          <p:cNvPr id="155" name="Title 14">
            <a:extLst>
              <a:ext uri="{FF2B5EF4-FFF2-40B4-BE49-F238E27FC236}">
                <a16:creationId xmlns:a16="http://schemas.microsoft.com/office/drawing/2014/main" id="{D4C18530-4EBB-1CAF-9ADF-7EA7A6C7F38A}"/>
              </a:ext>
            </a:extLst>
          </p:cNvPr>
          <p:cNvSpPr txBox="1">
            <a:spLocks/>
          </p:cNvSpPr>
          <p:nvPr/>
        </p:nvSpPr>
        <p:spPr>
          <a:xfrm>
            <a:off x="7097573" y="1921389"/>
            <a:ext cx="82601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4B479273-F1C3-B9D4-C105-2F86B2299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4428" y="626137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FE5A4AC5-0248-0EBD-3352-5DC6A355D75E}"/>
              </a:ext>
            </a:extLst>
          </p:cNvPr>
          <p:cNvSpPr txBox="1">
            <a:spLocks/>
          </p:cNvSpPr>
          <p:nvPr/>
        </p:nvSpPr>
        <p:spPr>
          <a:xfrm>
            <a:off x="650062" y="635771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pic>
        <p:nvPicPr>
          <p:cNvPr id="7" name="Graphic 51">
            <a:extLst>
              <a:ext uri="{FF2B5EF4-FFF2-40B4-BE49-F238E27FC236}">
                <a16:creationId xmlns:a16="http://schemas.microsoft.com/office/drawing/2014/main" id="{6F32F882-4869-D224-F2A8-25950795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065" y="896505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EF5A2B0-F50E-488B-84D7-FB62E976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43" y="896503"/>
            <a:ext cx="245341" cy="293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71C1C7DA-C8CF-E84B-67FE-66E77093F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493" y="5883785"/>
            <a:ext cx="647689" cy="44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D0CADD24-2458-0045-8817-0717F1A92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36762" y="5661382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4A8897C2-EEA8-7522-F818-E23C04CA256B}"/>
              </a:ext>
            </a:extLst>
          </p:cNvPr>
          <p:cNvCxnSpPr>
            <a:cxnSpLocks/>
            <a:stCxn id="14" idx="2"/>
            <a:endCxn id="2051" idx="0"/>
          </p:cNvCxnSpPr>
          <p:nvPr/>
        </p:nvCxnSpPr>
        <p:spPr>
          <a:xfrm rot="16200000" flipH="1">
            <a:off x="8727738" y="5699185"/>
            <a:ext cx="368893" cy="3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4">
            <a:extLst>
              <a:ext uri="{FF2B5EF4-FFF2-40B4-BE49-F238E27FC236}">
                <a16:creationId xmlns:a16="http://schemas.microsoft.com/office/drawing/2014/main" id="{83CAAEE7-860C-A7A4-C374-36A6E20C1DC1}"/>
              </a:ext>
            </a:extLst>
          </p:cNvPr>
          <p:cNvSpPr txBox="1">
            <a:spLocks/>
          </p:cNvSpPr>
          <p:nvPr/>
        </p:nvSpPr>
        <p:spPr>
          <a:xfrm>
            <a:off x="9020803" y="5735578"/>
            <a:ext cx="2705731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NVIDIA H100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Tensor core GPU</a:t>
            </a:r>
          </a:p>
          <a:p>
            <a:pPr defTabSz="914414">
              <a:spcBef>
                <a:spcPts val="0"/>
              </a:spcBef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(Confidential mode)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C7120C33-A310-6A0E-675C-C998D723FAEF}"/>
              </a:ext>
            </a:extLst>
          </p:cNvPr>
          <p:cNvSpPr/>
          <p:nvPr/>
        </p:nvSpPr>
        <p:spPr bwMode="auto">
          <a:xfrm>
            <a:off x="640306" y="4786077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Client</a:t>
            </a:r>
          </a:p>
        </p:txBody>
      </p:sp>
      <p:cxnSp>
        <p:nvCxnSpPr>
          <p:cNvPr id="52" name="Connecteur : en angle 51">
            <a:extLst>
              <a:ext uri="{FF2B5EF4-FFF2-40B4-BE49-F238E27FC236}">
                <a16:creationId xmlns:a16="http://schemas.microsoft.com/office/drawing/2014/main" id="{C133D1E0-367A-3248-F21B-2883DA5775AD}"/>
              </a:ext>
            </a:extLst>
          </p:cNvPr>
          <p:cNvCxnSpPr>
            <a:cxnSpLocks/>
            <a:stCxn id="41" idx="1"/>
            <a:endCxn id="49" idx="3"/>
          </p:cNvCxnSpPr>
          <p:nvPr/>
        </p:nvCxnSpPr>
        <p:spPr>
          <a:xfrm rot="10800000" flipV="1">
            <a:off x="1956610" y="4150389"/>
            <a:ext cx="4556657" cy="9172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 14">
            <a:extLst>
              <a:ext uri="{FF2B5EF4-FFF2-40B4-BE49-F238E27FC236}">
                <a16:creationId xmlns:a16="http://schemas.microsoft.com/office/drawing/2014/main" id="{6FAED1E1-DB44-DF70-C8A7-B24CBAAFD06A}"/>
              </a:ext>
            </a:extLst>
          </p:cNvPr>
          <p:cNvSpPr txBox="1">
            <a:spLocks/>
          </p:cNvSpPr>
          <p:nvPr/>
        </p:nvSpPr>
        <p:spPr>
          <a:xfrm>
            <a:off x="2223814" y="5118436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TLS Tunnel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E0ECBD8B-BEAB-B63D-40F3-69BE8FF9B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848" y="3154141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4028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EBF77-3BF1-42EC-1A85-41DBD770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8DCC96-2CD9-C00F-0EA0-897BC1D9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Classical Cloud ML Training Architecture</a:t>
            </a:r>
            <a:endParaRPr lang="en-US" noProof="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4118861-4A74-5C85-5C6F-EABF5DDF0110}"/>
              </a:ext>
            </a:extLst>
          </p:cNvPr>
          <p:cNvGrpSpPr/>
          <p:nvPr/>
        </p:nvGrpSpPr>
        <p:grpSpPr>
          <a:xfrm>
            <a:off x="2446561" y="1439517"/>
            <a:ext cx="7298878" cy="4376329"/>
            <a:chOff x="2423347" y="1429892"/>
            <a:chExt cx="7298878" cy="4376329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278AB4C8-E0EF-5834-B6BB-4D373F811A8B}"/>
                </a:ext>
              </a:extLst>
            </p:cNvPr>
            <p:cNvCxnSpPr>
              <a:cxnSpLocks/>
            </p:cNvCxnSpPr>
            <p:nvPr/>
          </p:nvCxnSpPr>
          <p:spPr>
            <a:xfrm>
              <a:off x="5870262" y="1429892"/>
              <a:ext cx="0" cy="4351218"/>
            </a:xfrm>
            <a:prstGeom prst="line">
              <a:avLst/>
            </a:prstGeom>
            <a:ln w="28575" cap="flat" cmpd="sng" algn="ctr">
              <a:gradFill flip="none" rotWithShape="1">
                <a:gsLst>
                  <a:gs pos="0">
                    <a:srgbClr val="0070C0"/>
                  </a:gs>
                  <a:gs pos="69000">
                    <a:srgbClr val="7030A0"/>
                  </a:gs>
                  <a:gs pos="100000">
                    <a:srgbClr val="D84884"/>
                  </a:gs>
                </a:gsLst>
                <a:path path="circle">
                  <a:fillToRect l="50000" t="-80000" r="50000" b="180000"/>
                </a:path>
                <a:tileRect/>
              </a:gra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789B07BF-7470-6925-FEBA-039B15EAAE7D}"/>
                </a:ext>
              </a:extLst>
            </p:cNvPr>
            <p:cNvSpPr/>
            <p:nvPr/>
          </p:nvSpPr>
          <p:spPr bwMode="auto">
            <a:xfrm>
              <a:off x="2423347" y="3407672"/>
              <a:ext cx="1316303" cy="563071"/>
            </a:xfrm>
            <a:prstGeom prst="roundRect">
              <a:avLst>
                <a:gd name="adj" fmla="val 6958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Dataset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358B331C-2724-ABA6-B02A-240F60508780}"/>
                </a:ext>
              </a:extLst>
            </p:cNvPr>
            <p:cNvSpPr/>
            <p:nvPr/>
          </p:nvSpPr>
          <p:spPr bwMode="auto">
            <a:xfrm>
              <a:off x="6527688" y="2238531"/>
              <a:ext cx="3194537" cy="2380937"/>
            </a:xfrm>
            <a:prstGeom prst="roundRect">
              <a:avLst>
                <a:gd name="adj" fmla="val 3085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rgbClr val="808080"/>
                  </a:solidFill>
                  <a:latin typeface="Segoe UI"/>
                  <a:sym typeface="Arial"/>
                </a:rPr>
                <a:t>   Azure GPU VM 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2E59E36-04EB-D248-99F9-C91F451BE0AE}"/>
                </a:ext>
              </a:extLst>
            </p:cNvPr>
            <p:cNvSpPr/>
            <p:nvPr/>
          </p:nvSpPr>
          <p:spPr bwMode="auto">
            <a:xfrm>
              <a:off x="6753477" y="4085693"/>
              <a:ext cx="2801773" cy="346889"/>
            </a:xfrm>
            <a:prstGeom prst="roundRect">
              <a:avLst>
                <a:gd name="adj" fmla="val 6958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OS</a:t>
              </a:r>
            </a:p>
          </p:txBody>
        </p: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7B3CD895-9D2E-C916-6EF8-5DD3F9FE7489}"/>
                </a:ext>
              </a:extLst>
            </p:cNvPr>
            <p:cNvSpPr/>
            <p:nvPr/>
          </p:nvSpPr>
          <p:spPr bwMode="auto">
            <a:xfrm>
              <a:off x="6753477" y="2586265"/>
              <a:ext cx="2801773" cy="556004"/>
            </a:xfrm>
            <a:prstGeom prst="roundRect">
              <a:avLst>
                <a:gd name="adj" fmla="val 6958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sysClr val="windowText" lastClr="000000"/>
                  </a:solidFill>
                  <a:latin typeface="Segoe UI"/>
                  <a:sym typeface="Arial"/>
                </a:rPr>
                <a:t>ML Training App</a:t>
              </a:r>
            </a:p>
          </p:txBody>
        </p:sp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412EE3BD-5108-EB4B-AECA-194A0F599E11}"/>
                </a:ext>
              </a:extLst>
            </p:cNvPr>
            <p:cNvSpPr/>
            <p:nvPr/>
          </p:nvSpPr>
          <p:spPr bwMode="auto">
            <a:xfrm>
              <a:off x="6754667" y="3381219"/>
              <a:ext cx="2801773" cy="622271"/>
            </a:xfrm>
            <a:prstGeom prst="roundRect">
              <a:avLst>
                <a:gd name="adj" fmla="val 6044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marL="228594" indent="-228594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endParaRPr lang="en-US" sz="1600" b="1" kern="0" dirty="0">
                <a:solidFill>
                  <a:sysClr val="windowText" lastClr="000000"/>
                </a:solidFill>
                <a:latin typeface="Segoe UI"/>
                <a:sym typeface="Arial"/>
              </a:endParaRPr>
            </a:p>
          </p:txBody>
        </p:sp>
        <p:sp>
          <p:nvSpPr>
            <p:cNvPr id="60" name="Rectangle : coins arrondis 59">
              <a:extLst>
                <a:ext uri="{FF2B5EF4-FFF2-40B4-BE49-F238E27FC236}">
                  <a16:creationId xmlns:a16="http://schemas.microsoft.com/office/drawing/2014/main" id="{45F70F8E-446C-8B66-F616-7F665EEAC6DE}"/>
                </a:ext>
              </a:extLst>
            </p:cNvPr>
            <p:cNvSpPr/>
            <p:nvPr/>
          </p:nvSpPr>
          <p:spPr bwMode="auto">
            <a:xfrm>
              <a:off x="6910414" y="3516480"/>
              <a:ext cx="2443220" cy="345456"/>
            </a:xfrm>
            <a:prstGeom prst="roundRect">
              <a:avLst>
                <a:gd name="adj" fmla="val 6958"/>
              </a:avLst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Dataset</a:t>
              </a:r>
            </a:p>
          </p:txBody>
        </p: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B5A41FE1-79FF-6C0D-07BA-F9BD4F299AA3}"/>
                </a:ext>
              </a:extLst>
            </p:cNvPr>
            <p:cNvCxnSpPr>
              <a:cxnSpLocks/>
              <a:stCxn id="8" idx="3"/>
              <a:endCxn id="58" idx="1"/>
            </p:cNvCxnSpPr>
            <p:nvPr/>
          </p:nvCxnSpPr>
          <p:spPr>
            <a:xfrm>
              <a:off x="3739650" y="3689208"/>
              <a:ext cx="3015017" cy="3147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itle 14">
              <a:extLst>
                <a:ext uri="{FF2B5EF4-FFF2-40B4-BE49-F238E27FC236}">
                  <a16:creationId xmlns:a16="http://schemas.microsoft.com/office/drawing/2014/main" id="{BB493D8B-01BB-23A2-BECF-21C293E4788D}"/>
                </a:ext>
              </a:extLst>
            </p:cNvPr>
            <p:cNvSpPr txBox="1">
              <a:spLocks/>
            </p:cNvSpPr>
            <p:nvPr/>
          </p:nvSpPr>
          <p:spPr>
            <a:xfrm>
              <a:off x="3639578" y="5436889"/>
              <a:ext cx="2166847" cy="369332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2400" kern="1200" spc="-51" dirty="0">
                  <a:ln w="3175">
                    <a:noFill/>
                  </a:ln>
                  <a:gradFill>
                    <a:gsLst>
                      <a:gs pos="52000">
                        <a:srgbClr val="7E50C9"/>
                      </a:gs>
                      <a:gs pos="29000">
                        <a:srgbClr val="3966CF"/>
                      </a:gs>
                      <a:gs pos="100000">
                        <a:srgbClr val="F4364C"/>
                      </a:gs>
                      <a:gs pos="74000">
                        <a:srgbClr val="C03BC4"/>
                      </a:gs>
                      <a:gs pos="0">
                        <a:srgbClr val="399A91"/>
                      </a:gs>
                    </a:gsLst>
                    <a:lin ang="3000000" scaled="0"/>
                  </a:gradFill>
                  <a:cs typeface="Segoe UI" pitchFamily="34" charset="0"/>
                  <a:sym typeface="Arial"/>
                </a:rPr>
                <a:t>Local</a:t>
              </a:r>
            </a:p>
          </p:txBody>
        </p:sp>
        <p:sp>
          <p:nvSpPr>
            <p:cNvPr id="112" name="Title 14">
              <a:extLst>
                <a:ext uri="{FF2B5EF4-FFF2-40B4-BE49-F238E27FC236}">
                  <a16:creationId xmlns:a16="http://schemas.microsoft.com/office/drawing/2014/main" id="{FB263AD0-B605-814D-2598-C788B96E39E2}"/>
                </a:ext>
              </a:extLst>
            </p:cNvPr>
            <p:cNvSpPr txBox="1">
              <a:spLocks/>
            </p:cNvSpPr>
            <p:nvPr/>
          </p:nvSpPr>
          <p:spPr>
            <a:xfrm>
              <a:off x="5806425" y="5436889"/>
              <a:ext cx="2166847" cy="369332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2400" kern="1200" spc="-51" dirty="0">
                  <a:ln w="3175">
                    <a:noFill/>
                  </a:ln>
                  <a:gradFill>
                    <a:gsLst>
                      <a:gs pos="52000">
                        <a:srgbClr val="7E50C9"/>
                      </a:gs>
                      <a:gs pos="29000">
                        <a:srgbClr val="3966CF"/>
                      </a:gs>
                      <a:gs pos="100000">
                        <a:srgbClr val="F4364C"/>
                      </a:gs>
                      <a:gs pos="74000">
                        <a:srgbClr val="C03BC4"/>
                      </a:gs>
                      <a:gs pos="0">
                        <a:srgbClr val="399A91"/>
                      </a:gs>
                    </a:gsLst>
                    <a:lin ang="3000000" scaled="0"/>
                  </a:gradFill>
                  <a:cs typeface="Segoe UI" pitchFamily="34" charset="0"/>
                  <a:sym typeface="Arial"/>
                </a:rPr>
                <a:t>Cloud</a:t>
              </a:r>
            </a:p>
          </p:txBody>
        </p: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BCBE50F8-72E0-C721-6C3C-4807D8DCBD64}"/>
                </a:ext>
              </a:extLst>
            </p:cNvPr>
            <p:cNvCxnSpPr>
              <a:cxnSpLocks/>
              <a:stCxn id="58" idx="0"/>
              <a:endCxn id="41" idx="2"/>
            </p:cNvCxnSpPr>
            <p:nvPr/>
          </p:nvCxnSpPr>
          <p:spPr>
            <a:xfrm flipH="1" flipV="1">
              <a:off x="8154364" y="3142269"/>
              <a:ext cx="1190" cy="23895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itle 14">
              <a:extLst>
                <a:ext uri="{FF2B5EF4-FFF2-40B4-BE49-F238E27FC236}">
                  <a16:creationId xmlns:a16="http://schemas.microsoft.com/office/drawing/2014/main" id="{471642C5-CDA8-3953-3259-9995DA5ACA02}"/>
                </a:ext>
              </a:extLst>
            </p:cNvPr>
            <p:cNvSpPr txBox="1">
              <a:spLocks/>
            </p:cNvSpPr>
            <p:nvPr/>
          </p:nvSpPr>
          <p:spPr>
            <a:xfrm>
              <a:off x="3827497" y="3399697"/>
              <a:ext cx="2166847" cy="246221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100000"/>
                </a:lnSpc>
                <a:spcBef>
                  <a:spcPts val="2100"/>
                </a:spcBef>
                <a:buNone/>
                <a:defRPr sz="1800" b="0" kern="0" cap="none" spc="0" baseline="0">
                  <a:ln>
                    <a:noFill/>
                  </a:ln>
                  <a:gradFill>
                    <a:gsLst>
                      <a:gs pos="59195">
                        <a:schemeClr val="tx1"/>
                      </a:gs>
                      <a:gs pos="40000">
                        <a:schemeClr val="tx1"/>
                      </a:gs>
                    </a:gsLst>
                    <a:lin ang="2700000" scaled="1"/>
                  </a:gradFill>
                  <a:effectLst/>
                  <a:latin typeface="Segoe UI Variable Display Semibold" pitchFamily="2" charset="0"/>
                </a:defRPr>
              </a:lvl1pPr>
            </a:lstStyle>
            <a:p>
              <a:pPr defTabSz="914414">
                <a:defRPr/>
              </a:pPr>
              <a:r>
                <a:rPr lang="en-US" sz="1600" kern="1200" spc="-51" dirty="0">
                  <a:ln w="3175">
                    <a:noFill/>
                  </a:ln>
                  <a:solidFill>
                    <a:srgbClr val="DDDDDD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</a:rPr>
                <a:t>Dataset Upload</a:t>
              </a:r>
            </a:p>
          </p:txBody>
        </p:sp>
      </p:grpSp>
      <p:pic>
        <p:nvPicPr>
          <p:cNvPr id="4" name="Picture 1">
            <a:extLst>
              <a:ext uri="{FF2B5EF4-FFF2-40B4-BE49-F238E27FC236}">
                <a16:creationId xmlns:a16="http://schemas.microsoft.com/office/drawing/2014/main" id="{2CECD94D-72FA-DC7E-CE57-CC436CB29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586" y="3302313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2535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5F78-5E68-3A1D-A74A-8DBE6993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C8250111-50BC-5EC8-9194-92938040991F}"/>
              </a:ext>
            </a:extLst>
          </p:cNvPr>
          <p:cNvCxnSpPr>
            <a:cxnSpLocks/>
            <a:stCxn id="15" idx="1"/>
            <a:endCxn id="15" idx="2"/>
          </p:cNvCxnSpPr>
          <p:nvPr/>
        </p:nvCxnSpPr>
        <p:spPr>
          <a:xfrm rot="10800000" flipH="1" flipV="1">
            <a:off x="3072276" y="3769997"/>
            <a:ext cx="721580" cy="281535"/>
          </a:xfrm>
          <a:prstGeom prst="curvedConnector4">
            <a:avLst>
              <a:gd name="adj1" fmla="val -42241"/>
              <a:gd name="adj2" fmla="val 314272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0F33DAE-52F8-33ED-50B6-6485A7BE4FE0}"/>
              </a:ext>
            </a:extLst>
          </p:cNvPr>
          <p:cNvCxnSpPr>
            <a:cxnSpLocks/>
          </p:cNvCxnSpPr>
          <p:nvPr/>
        </p:nvCxnSpPr>
        <p:spPr>
          <a:xfrm>
            <a:off x="6236036" y="1009706"/>
            <a:ext cx="0" cy="5338516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2A391C8-6FC8-5F8E-DA86-9ED090C95459}"/>
              </a:ext>
            </a:extLst>
          </p:cNvPr>
          <p:cNvSpPr/>
          <p:nvPr/>
        </p:nvSpPr>
        <p:spPr bwMode="auto">
          <a:xfrm>
            <a:off x="872373" y="3488463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Confidential Data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3672A02-3EE5-47A6-7D40-5ED6A17C46B0}"/>
              </a:ext>
            </a:extLst>
          </p:cNvPr>
          <p:cNvSpPr/>
          <p:nvPr/>
        </p:nvSpPr>
        <p:spPr bwMode="auto">
          <a:xfrm>
            <a:off x="7879468" y="1057683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Service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6E83279-D86F-4C05-4602-1111A9A85B69}"/>
              </a:ext>
            </a:extLst>
          </p:cNvPr>
          <p:cNvSpPr/>
          <p:nvPr/>
        </p:nvSpPr>
        <p:spPr bwMode="auto">
          <a:xfrm>
            <a:off x="7352017" y="2771878"/>
            <a:ext cx="2802965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rgbClr val="808080"/>
                </a:solidFill>
                <a:latin typeface="Segoe UI"/>
                <a:sym typeface="Arial"/>
              </a:rPr>
              <a:t>   Azure Confidential VM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2818D7A-CF69-9644-4508-9ED407DCD574}"/>
              </a:ext>
            </a:extLst>
          </p:cNvPr>
          <p:cNvSpPr/>
          <p:nvPr/>
        </p:nvSpPr>
        <p:spPr bwMode="auto">
          <a:xfrm>
            <a:off x="3072276" y="3488463"/>
            <a:ext cx="1443160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Data Encrypt Application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EA55396-1A72-CB2C-C4F7-101ACCC1EB40}"/>
              </a:ext>
            </a:extLst>
          </p:cNvPr>
          <p:cNvSpPr/>
          <p:nvPr/>
        </p:nvSpPr>
        <p:spPr bwMode="auto">
          <a:xfrm>
            <a:off x="7521117" y="4578757"/>
            <a:ext cx="248220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>
                <a:solidFill>
                  <a:sysClr val="windowText" lastClr="000000"/>
                </a:solidFill>
                <a:latin typeface="Segoe UI"/>
                <a:sym typeface="Arial"/>
              </a:rPr>
              <a:t>OS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197541C-3645-F99B-FADF-68102A3E026B}"/>
              </a:ext>
            </a:extLst>
          </p:cNvPr>
          <p:cNvSpPr/>
          <p:nvPr/>
        </p:nvSpPr>
        <p:spPr bwMode="auto">
          <a:xfrm>
            <a:off x="7521119" y="4961316"/>
            <a:ext cx="2482206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600" kern="0" dirty="0" err="1">
                <a:solidFill>
                  <a:sysClr val="windowText" lastClr="000000"/>
                </a:solidFill>
                <a:latin typeface="Segoe UI"/>
                <a:sym typeface="Arial"/>
              </a:rPr>
              <a:t>vTPM</a:t>
            </a:r>
            <a:endParaRPr lang="en-US" sz="1600" kern="0" dirty="0">
              <a:solidFill>
                <a:sysClr val="windowText" lastClr="000000"/>
              </a:solidFill>
              <a:latin typeface="Segoe UI"/>
              <a:sym typeface="Arial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4936C49-440D-E68E-E19A-10CF343D9B6F}"/>
              </a:ext>
            </a:extLst>
          </p:cNvPr>
          <p:cNvGrpSpPr/>
          <p:nvPr/>
        </p:nvGrpSpPr>
        <p:grpSpPr>
          <a:xfrm>
            <a:off x="7529873" y="3179592"/>
            <a:ext cx="2482206" cy="1180813"/>
            <a:chOff x="9272330" y="2976390"/>
            <a:chExt cx="2089387" cy="1180813"/>
          </a:xfrm>
        </p:grpSpPr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CAE64652-E4AC-2CF2-A01D-9F714B76AA1B}"/>
                </a:ext>
              </a:extLst>
            </p:cNvPr>
            <p:cNvSpPr/>
            <p:nvPr/>
          </p:nvSpPr>
          <p:spPr bwMode="auto">
            <a:xfrm>
              <a:off x="9272330" y="2976390"/>
              <a:ext cx="2089387" cy="1180813"/>
            </a:xfrm>
            <a:prstGeom prst="roundRect">
              <a:avLst>
                <a:gd name="adj" fmla="val 6044"/>
              </a:avLst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marL="228594" indent="-228594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endParaRPr lang="en-US" sz="1600" b="1" kern="0" dirty="0">
                <a:solidFill>
                  <a:sysClr val="windowText" lastClr="000000"/>
                </a:solidFill>
                <a:latin typeface="Segoe UI"/>
                <a:sym typeface="Arial"/>
              </a:endParaRPr>
            </a:p>
          </p:txBody>
        </p:sp>
        <p:sp>
          <p:nvSpPr>
            <p:cNvPr id="60" name="Rectangle : coins arrondis 59">
              <a:extLst>
                <a:ext uri="{FF2B5EF4-FFF2-40B4-BE49-F238E27FC236}">
                  <a16:creationId xmlns:a16="http://schemas.microsoft.com/office/drawing/2014/main" id="{8A8FFC70-FE34-6526-1889-25066B725750}"/>
                </a:ext>
              </a:extLst>
            </p:cNvPr>
            <p:cNvSpPr/>
            <p:nvPr/>
          </p:nvSpPr>
          <p:spPr bwMode="auto">
            <a:xfrm>
              <a:off x="9419747" y="3121241"/>
              <a:ext cx="1794553" cy="345456"/>
            </a:xfrm>
            <a:prstGeom prst="roundRect">
              <a:avLst>
                <a:gd name="adj" fmla="val 6958"/>
              </a:avLst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Encrypted Data</a:t>
              </a:r>
            </a:p>
          </p:txBody>
        </p:sp>
        <p:sp>
          <p:nvSpPr>
            <p:cNvPr id="61" name="Rectangle : coins arrondis 60">
              <a:extLst>
                <a:ext uri="{FF2B5EF4-FFF2-40B4-BE49-F238E27FC236}">
                  <a16:creationId xmlns:a16="http://schemas.microsoft.com/office/drawing/2014/main" id="{492F4931-2995-B919-0687-E60F0B79D3F9}"/>
                </a:ext>
              </a:extLst>
            </p:cNvPr>
            <p:cNvSpPr/>
            <p:nvPr/>
          </p:nvSpPr>
          <p:spPr bwMode="auto">
            <a:xfrm>
              <a:off x="9419745" y="3667135"/>
              <a:ext cx="1794553" cy="345456"/>
            </a:xfrm>
            <a:prstGeom prst="roundRect">
              <a:avLst>
                <a:gd name="adj" fmla="val 6958"/>
              </a:avLst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0" tIns="62183" rIns="0" bIns="6218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26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600" kern="0" dirty="0">
                  <a:solidFill>
                    <a:prstClr val="white"/>
                  </a:solidFill>
                  <a:latin typeface="Segoe UI"/>
                  <a:sym typeface="Arial"/>
                </a:rPr>
                <a:t>Wrapped DEK</a:t>
              </a:r>
            </a:p>
          </p:txBody>
        </p:sp>
      </p:grp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C06534CE-C74E-DC2A-25C4-915BCC7DB90B}"/>
              </a:ext>
            </a:extLst>
          </p:cNvPr>
          <p:cNvCxnSpPr>
            <a:cxnSpLocks/>
            <a:stCxn id="12" idx="1"/>
            <a:endCxn id="15" idx="0"/>
          </p:cNvCxnSpPr>
          <p:nvPr/>
        </p:nvCxnSpPr>
        <p:spPr>
          <a:xfrm rot="10800000" flipV="1">
            <a:off x="3793856" y="1479499"/>
            <a:ext cx="4085612" cy="2008964"/>
          </a:xfrm>
          <a:prstGeom prst="bentConnector2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ADD65F37-8609-0846-3B53-B3FB4171BB84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2188676" y="3769998"/>
            <a:ext cx="883601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C81C8037-84F9-81E0-B559-D73FC841203D}"/>
              </a:ext>
            </a:extLst>
          </p:cNvPr>
          <p:cNvCxnSpPr>
            <a:cxnSpLocks/>
            <a:stCxn id="15" idx="3"/>
            <a:endCxn id="58" idx="1"/>
          </p:cNvCxnSpPr>
          <p:nvPr/>
        </p:nvCxnSpPr>
        <p:spPr>
          <a:xfrm>
            <a:off x="4515436" y="3769999"/>
            <a:ext cx="3014437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Graphic 43">
            <a:extLst>
              <a:ext uri="{FF2B5EF4-FFF2-40B4-BE49-F238E27FC236}">
                <a16:creationId xmlns:a16="http://schemas.microsoft.com/office/drawing/2014/main" id="{5A2990F8-6266-397F-5FA8-7F7B83242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067907" y="255119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B3E711D2-768E-EBB8-47C2-BB0DB0D12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197432" y="852156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C760590B-3A3B-1891-73B1-1741C634938D}"/>
              </a:ext>
            </a:extLst>
          </p:cNvPr>
          <p:cNvSpPr txBox="1">
            <a:spLocks/>
          </p:cNvSpPr>
          <p:nvPr/>
        </p:nvSpPr>
        <p:spPr>
          <a:xfrm>
            <a:off x="4174351" y="5925259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0139A323-BFE4-A358-7453-E0D1FB72384A}"/>
              </a:ext>
            </a:extLst>
          </p:cNvPr>
          <p:cNvSpPr txBox="1">
            <a:spLocks/>
          </p:cNvSpPr>
          <p:nvPr/>
        </p:nvSpPr>
        <p:spPr>
          <a:xfrm>
            <a:off x="6079568" y="5978890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45" name="Title 14">
            <a:extLst>
              <a:ext uri="{FF2B5EF4-FFF2-40B4-BE49-F238E27FC236}">
                <a16:creationId xmlns:a16="http://schemas.microsoft.com/office/drawing/2014/main" id="{DD284A0F-1D30-334D-2E01-58D57351ABE9}"/>
              </a:ext>
            </a:extLst>
          </p:cNvPr>
          <p:cNvSpPr txBox="1">
            <a:spLocks/>
          </p:cNvSpPr>
          <p:nvPr/>
        </p:nvSpPr>
        <p:spPr>
          <a:xfrm>
            <a:off x="2099890" y="4650585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Generate Unique DEK</a:t>
            </a:r>
          </a:p>
        </p:txBody>
      </p:sp>
      <p:sp>
        <p:nvSpPr>
          <p:cNvPr id="146" name="Title 14">
            <a:extLst>
              <a:ext uri="{FF2B5EF4-FFF2-40B4-BE49-F238E27FC236}">
                <a16:creationId xmlns:a16="http://schemas.microsoft.com/office/drawing/2014/main" id="{90BC879A-B784-E67A-3400-F41F96FBBF7C}"/>
              </a:ext>
            </a:extLst>
          </p:cNvPr>
          <p:cNvSpPr txBox="1">
            <a:spLocks/>
          </p:cNvSpPr>
          <p:nvPr/>
        </p:nvSpPr>
        <p:spPr>
          <a:xfrm>
            <a:off x="4069189" y="1193140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Release KEK</a:t>
            </a:r>
          </a:p>
        </p:txBody>
      </p:sp>
      <p:sp>
        <p:nvSpPr>
          <p:cNvPr id="147" name="Title 14">
            <a:extLst>
              <a:ext uri="{FF2B5EF4-FFF2-40B4-BE49-F238E27FC236}">
                <a16:creationId xmlns:a16="http://schemas.microsoft.com/office/drawing/2014/main" id="{6DDE7EED-340D-64DE-625B-F911F1372529}"/>
              </a:ext>
            </a:extLst>
          </p:cNvPr>
          <p:cNvSpPr txBox="1">
            <a:spLocks/>
          </p:cNvSpPr>
          <p:nvPr/>
        </p:nvSpPr>
        <p:spPr>
          <a:xfrm>
            <a:off x="4257982" y="3405088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Encrypted Data</a:t>
            </a:r>
          </a:p>
        </p:txBody>
      </p:sp>
      <p:sp>
        <p:nvSpPr>
          <p:cNvPr id="148" name="Title 14">
            <a:extLst>
              <a:ext uri="{FF2B5EF4-FFF2-40B4-BE49-F238E27FC236}">
                <a16:creationId xmlns:a16="http://schemas.microsoft.com/office/drawing/2014/main" id="{2BB2BCF7-6BD1-636C-5F43-36E427EA2E4F}"/>
              </a:ext>
            </a:extLst>
          </p:cNvPr>
          <p:cNvSpPr txBox="1">
            <a:spLocks/>
          </p:cNvSpPr>
          <p:nvPr/>
        </p:nvSpPr>
        <p:spPr>
          <a:xfrm>
            <a:off x="4273799" y="3821674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Wrapped DEK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70416A15-977D-562D-3E1C-D639E3CBD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9500" y="632831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24A216E8-8E9F-AEDD-E496-15B6E4867C75}"/>
              </a:ext>
            </a:extLst>
          </p:cNvPr>
          <p:cNvSpPr txBox="1">
            <a:spLocks/>
          </p:cNvSpPr>
          <p:nvPr/>
        </p:nvSpPr>
        <p:spPr>
          <a:xfrm>
            <a:off x="655134" y="642465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pic>
        <p:nvPicPr>
          <p:cNvPr id="7" name="Graphic 51">
            <a:extLst>
              <a:ext uri="{FF2B5EF4-FFF2-40B4-BE49-F238E27FC236}">
                <a16:creationId xmlns:a16="http://schemas.microsoft.com/office/drawing/2014/main" id="{678C7922-1E87-0B7C-0393-2D3A7E4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4367" y="947147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sp>
        <p:nvSpPr>
          <p:cNvPr id="27" name="Titre 1">
            <a:extLst>
              <a:ext uri="{FF2B5EF4-FFF2-40B4-BE49-F238E27FC236}">
                <a16:creationId xmlns:a16="http://schemas.microsoft.com/office/drawing/2014/main" id="{A170005A-887B-E22E-9DBA-A6FBD684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Data Encryption for SKR</a:t>
            </a:r>
            <a:endParaRPr lang="en-US" noProof="0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2D4540F-4663-E561-5E24-B5F1A34C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795" y="3079160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97262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BCA8-7C35-8319-AAAB-B74D3500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4">
            <a:extLst>
              <a:ext uri="{FF2B5EF4-FFF2-40B4-BE49-F238E27FC236}">
                <a16:creationId xmlns:a16="http://schemas.microsoft.com/office/drawing/2014/main" id="{12D05A2B-1C6F-566F-0361-86DD378046BD}"/>
              </a:ext>
            </a:extLst>
          </p:cNvPr>
          <p:cNvSpPr txBox="1">
            <a:spLocks/>
          </p:cNvSpPr>
          <p:nvPr/>
        </p:nvSpPr>
        <p:spPr>
          <a:xfrm>
            <a:off x="360994" y="5640085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D1607E1C-350A-68E1-1360-5D0124E67560}"/>
              </a:ext>
            </a:extLst>
          </p:cNvPr>
          <p:cNvSpPr txBox="1">
            <a:spLocks/>
          </p:cNvSpPr>
          <p:nvPr/>
        </p:nvSpPr>
        <p:spPr>
          <a:xfrm>
            <a:off x="2791841" y="5640085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  <a:sym typeface="Arial"/>
              </a:rPr>
              <a:t>Cloud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EC7B779B-F984-7E1B-9A33-0AAA98C01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4428" y="626137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sz="1400" b="1" kern="0" dirty="0">
              <a:ln w="3175">
                <a:noFill/>
              </a:ln>
              <a:gradFill>
                <a:gsLst>
                  <a:gs pos="0">
                    <a:prstClr val="white"/>
                  </a:gs>
                  <a:gs pos="99000">
                    <a:prstClr val="white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  <a:sym typeface="Arial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3D37BBCA-1DF2-7D2B-F120-726D9233A05C}"/>
              </a:ext>
            </a:extLst>
          </p:cNvPr>
          <p:cNvSpPr txBox="1">
            <a:spLocks/>
          </p:cNvSpPr>
          <p:nvPr/>
        </p:nvSpPr>
        <p:spPr>
          <a:xfrm>
            <a:off x="650062" y="635771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rgbClr val="DDDDD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Services protected by Confidential Computing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D462C47-D8F6-023A-BF19-36FC50942C41}"/>
              </a:ext>
            </a:extLst>
          </p:cNvPr>
          <p:cNvCxnSpPr>
            <a:cxnSpLocks/>
          </p:cNvCxnSpPr>
          <p:nvPr/>
        </p:nvCxnSpPr>
        <p:spPr>
          <a:xfrm flipV="1">
            <a:off x="2728350" y="1378868"/>
            <a:ext cx="0" cy="4577840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itre 1">
            <a:extLst>
              <a:ext uri="{FF2B5EF4-FFF2-40B4-BE49-F238E27FC236}">
                <a16:creationId xmlns:a16="http://schemas.microsoft.com/office/drawing/2014/main" id="{0D50C3A5-1FDC-531B-35FF-7D9EFC6A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0" y="121251"/>
            <a:ext cx="11774040" cy="843631"/>
          </a:xfrm>
        </p:spPr>
        <p:txBody>
          <a:bodyPr/>
          <a:lstStyle/>
          <a:p>
            <a:r>
              <a:rPr lang="en-US" sz="3733" dirty="0">
                <a:ln>
                  <a:noFill/>
                </a:ln>
                <a:latin typeface="Segoe UI Semibold"/>
              </a:rPr>
              <a:t>Confidential ML Model Training with SKR</a:t>
            </a:r>
            <a:endParaRPr lang="en-US" noProof="0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D53F509-50B4-7D0B-6F18-F1691F7D4438}"/>
              </a:ext>
            </a:extLst>
          </p:cNvPr>
          <p:cNvSpPr/>
          <p:nvPr/>
        </p:nvSpPr>
        <p:spPr bwMode="auto">
          <a:xfrm>
            <a:off x="5140390" y="1170409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Service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007A10D-EEDC-7346-19DF-35D7A905FACB}"/>
              </a:ext>
            </a:extLst>
          </p:cNvPr>
          <p:cNvSpPr/>
          <p:nvPr/>
        </p:nvSpPr>
        <p:spPr bwMode="auto">
          <a:xfrm>
            <a:off x="9065843" y="1170409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Microsoft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Azure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Attestation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01F8C11-7C7E-E4FE-934B-DC2523B085B3}"/>
              </a:ext>
            </a:extLst>
          </p:cNvPr>
          <p:cNvSpPr/>
          <p:nvPr/>
        </p:nvSpPr>
        <p:spPr bwMode="auto">
          <a:xfrm>
            <a:off x="5140390" y="2957691"/>
            <a:ext cx="5135733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accent4"/>
                </a:solidFill>
              </a:rPr>
              <a:t>   Azure Confidential VM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3865541-E90C-4E04-8E35-DC732EDFDEEA}"/>
              </a:ext>
            </a:extLst>
          </p:cNvPr>
          <p:cNvSpPr/>
          <p:nvPr/>
        </p:nvSpPr>
        <p:spPr bwMode="auto">
          <a:xfrm>
            <a:off x="5309490" y="4764570"/>
            <a:ext cx="480104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OS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AE6A4AE-A3BA-17E6-595C-8864595BB5DE}"/>
              </a:ext>
            </a:extLst>
          </p:cNvPr>
          <p:cNvSpPr/>
          <p:nvPr/>
        </p:nvSpPr>
        <p:spPr bwMode="auto">
          <a:xfrm>
            <a:off x="5309491" y="5147129"/>
            <a:ext cx="4801045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solidFill>
                  <a:sysClr val="windowText" lastClr="000000"/>
                </a:solidFill>
              </a:rPr>
              <a:t>vTPM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3BC89DE-FEF0-E85E-9AA6-221011992B97}"/>
              </a:ext>
            </a:extLst>
          </p:cNvPr>
          <p:cNvSpPr/>
          <p:nvPr/>
        </p:nvSpPr>
        <p:spPr bwMode="auto">
          <a:xfrm>
            <a:off x="8021149" y="3127377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Secure Key Release Application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F60314C5-7A0C-3AFA-AE11-EF46BBA04F56}"/>
              </a:ext>
            </a:extLst>
          </p:cNvPr>
          <p:cNvSpPr/>
          <p:nvPr/>
        </p:nvSpPr>
        <p:spPr bwMode="auto">
          <a:xfrm>
            <a:off x="8021149" y="4052274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ML Training App 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46AE27B-1EB7-C760-9C77-1B9F522EF4AB}"/>
              </a:ext>
            </a:extLst>
          </p:cNvPr>
          <p:cNvSpPr/>
          <p:nvPr/>
        </p:nvSpPr>
        <p:spPr bwMode="auto">
          <a:xfrm>
            <a:off x="5338335" y="3427464"/>
            <a:ext cx="2089387" cy="1180813"/>
          </a:xfrm>
          <a:prstGeom prst="roundRect">
            <a:avLst>
              <a:gd name="adj" fmla="val 6044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marL="228594" indent="-228594" defTabSz="124326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88F122-6DB1-891D-E06E-42E3A14E78FC}"/>
              </a:ext>
            </a:extLst>
          </p:cNvPr>
          <p:cNvSpPr/>
          <p:nvPr/>
        </p:nvSpPr>
        <p:spPr bwMode="auto">
          <a:xfrm>
            <a:off x="5485752" y="3572315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bg1"/>
                </a:solidFill>
              </a:rPr>
              <a:t>Encrypted Data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60D875FB-DB62-BB2D-382C-C58285BFA54A}"/>
              </a:ext>
            </a:extLst>
          </p:cNvPr>
          <p:cNvSpPr/>
          <p:nvPr/>
        </p:nvSpPr>
        <p:spPr bwMode="auto">
          <a:xfrm>
            <a:off x="5485750" y="4118209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bg1"/>
                </a:solidFill>
              </a:rPr>
              <a:t>Wrapped DEK</a:t>
            </a:r>
          </a:p>
        </p:txBody>
      </p: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332BA27E-CC25-0181-C925-07E4109E4491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 rot="16200000" flipH="1">
            <a:off x="6915984" y="977515"/>
            <a:ext cx="1113337" cy="3186383"/>
          </a:xfrm>
          <a:prstGeom prst="bentConnector3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A625028E-4BC8-C1A9-C619-B5D704972C35}"/>
              </a:ext>
            </a:extLst>
          </p:cNvPr>
          <p:cNvCxnSpPr>
            <a:cxnSpLocks/>
            <a:stCxn id="17" idx="2"/>
            <a:endCxn id="27" idx="0"/>
          </p:cNvCxnSpPr>
          <p:nvPr/>
        </p:nvCxnSpPr>
        <p:spPr>
          <a:xfrm rot="5400000">
            <a:off x="8878712" y="2201173"/>
            <a:ext cx="1113337" cy="73907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E3713DDB-F004-5DF2-E1FA-90FC2920091B}"/>
              </a:ext>
            </a:extLst>
          </p:cNvPr>
          <p:cNvCxnSpPr>
            <a:cxnSpLocks/>
            <a:stCxn id="30" idx="3"/>
            <a:endCxn id="27" idx="1"/>
          </p:cNvCxnSpPr>
          <p:nvPr/>
        </p:nvCxnSpPr>
        <p:spPr>
          <a:xfrm flipV="1">
            <a:off x="7427722" y="3405379"/>
            <a:ext cx="593428" cy="61249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08EC887-CE85-3FBD-AF3E-13B328A08BC8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9065843" y="3683380"/>
            <a:ext cx="0" cy="368893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Graphic 43">
            <a:extLst>
              <a:ext uri="{FF2B5EF4-FFF2-40B4-BE49-F238E27FC236}">
                <a16:creationId xmlns:a16="http://schemas.microsoft.com/office/drawing/2014/main" id="{787FF812-FE01-9F16-9B2E-0834AC551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380104" y="964883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40" name="Graphic 43">
            <a:extLst>
              <a:ext uri="{FF2B5EF4-FFF2-40B4-BE49-F238E27FC236}">
                <a16:creationId xmlns:a16="http://schemas.microsoft.com/office/drawing/2014/main" id="{1F16A7CC-C8EC-3E00-24D9-393145869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110537" y="2758483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43" name="Graphic 43">
            <a:extLst>
              <a:ext uri="{FF2B5EF4-FFF2-40B4-BE49-F238E27FC236}">
                <a16:creationId xmlns:a16="http://schemas.microsoft.com/office/drawing/2014/main" id="{FB15ECA2-1253-6A77-BC80-F1985F5AF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458354" y="964882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44" name="Title 14">
            <a:extLst>
              <a:ext uri="{FF2B5EF4-FFF2-40B4-BE49-F238E27FC236}">
                <a16:creationId xmlns:a16="http://schemas.microsoft.com/office/drawing/2014/main" id="{E8A48248-67FC-0EE6-B03C-728A9FA84084}"/>
              </a:ext>
            </a:extLst>
          </p:cNvPr>
          <p:cNvSpPr txBox="1">
            <a:spLocks/>
          </p:cNvSpPr>
          <p:nvPr/>
        </p:nvSpPr>
        <p:spPr>
          <a:xfrm>
            <a:off x="8577107" y="2048583"/>
            <a:ext cx="122780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CVM Attestation</a:t>
            </a:r>
          </a:p>
        </p:txBody>
      </p:sp>
      <p:sp>
        <p:nvSpPr>
          <p:cNvPr id="45" name="Title 14">
            <a:extLst>
              <a:ext uri="{FF2B5EF4-FFF2-40B4-BE49-F238E27FC236}">
                <a16:creationId xmlns:a16="http://schemas.microsoft.com/office/drawing/2014/main" id="{A9611800-CEEF-DDB0-709B-320058C85420}"/>
              </a:ext>
            </a:extLst>
          </p:cNvPr>
          <p:cNvSpPr txBox="1">
            <a:spLocks/>
          </p:cNvSpPr>
          <p:nvPr/>
        </p:nvSpPr>
        <p:spPr>
          <a:xfrm>
            <a:off x="9760419" y="2058293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 Token</a:t>
            </a:r>
          </a:p>
        </p:txBody>
      </p:sp>
      <p:sp>
        <p:nvSpPr>
          <p:cNvPr id="46" name="Title 14">
            <a:extLst>
              <a:ext uri="{FF2B5EF4-FFF2-40B4-BE49-F238E27FC236}">
                <a16:creationId xmlns:a16="http://schemas.microsoft.com/office/drawing/2014/main" id="{5BD4F08A-3D37-6DE5-B5C6-8B37A318D379}"/>
              </a:ext>
            </a:extLst>
          </p:cNvPr>
          <p:cNvSpPr txBox="1">
            <a:spLocks/>
          </p:cNvSpPr>
          <p:nvPr/>
        </p:nvSpPr>
        <p:spPr>
          <a:xfrm>
            <a:off x="5022178" y="2090695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 Token</a:t>
            </a:r>
          </a:p>
        </p:txBody>
      </p:sp>
      <p:sp>
        <p:nvSpPr>
          <p:cNvPr id="47" name="Title 14">
            <a:extLst>
              <a:ext uri="{FF2B5EF4-FFF2-40B4-BE49-F238E27FC236}">
                <a16:creationId xmlns:a16="http://schemas.microsoft.com/office/drawing/2014/main" id="{6C482772-7B99-2098-AC27-91D5110DB73B}"/>
              </a:ext>
            </a:extLst>
          </p:cNvPr>
          <p:cNvSpPr txBox="1">
            <a:spLocks/>
          </p:cNvSpPr>
          <p:nvPr/>
        </p:nvSpPr>
        <p:spPr>
          <a:xfrm>
            <a:off x="5893797" y="2084757"/>
            <a:ext cx="82601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Release KEK</a:t>
            </a:r>
          </a:p>
        </p:txBody>
      </p:sp>
      <p:pic>
        <p:nvPicPr>
          <p:cNvPr id="48" name="Graphic 51">
            <a:extLst>
              <a:ext uri="{FF2B5EF4-FFF2-40B4-BE49-F238E27FC236}">
                <a16:creationId xmlns:a16="http://schemas.microsoft.com/office/drawing/2014/main" id="{FE60981C-0C04-04E9-CFB4-3179D2483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89" y="1059873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D1D98D0B-059E-F78F-8752-9B5444F99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067" y="1059871"/>
            <a:ext cx="245341" cy="293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">
            <a:extLst>
              <a:ext uri="{FF2B5EF4-FFF2-40B4-BE49-F238E27FC236}">
                <a16:creationId xmlns:a16="http://schemas.microsoft.com/office/drawing/2014/main" id="{F75BB759-A561-F5DA-3F57-437553328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658" y="3344055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03533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F2CE181E-3E62-0314-DF51-150C156FF528}"/>
              </a:ext>
            </a:extLst>
          </p:cNvPr>
          <p:cNvCxnSpPr>
            <a:cxnSpLocks/>
            <a:stCxn id="15" idx="1"/>
            <a:endCxn id="15" idx="2"/>
          </p:cNvCxnSpPr>
          <p:nvPr/>
        </p:nvCxnSpPr>
        <p:spPr>
          <a:xfrm rot="10800000" flipH="1" flipV="1">
            <a:off x="3038861" y="3851910"/>
            <a:ext cx="658152" cy="281535"/>
          </a:xfrm>
          <a:prstGeom prst="curvedConnector4">
            <a:avLst>
              <a:gd name="adj1" fmla="val -57117"/>
              <a:gd name="adj2" fmla="val 334572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B19DA76B-5602-6B2E-986B-31F34BBD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21" y="121251"/>
            <a:ext cx="7035799" cy="843631"/>
          </a:xfrm>
        </p:spPr>
        <p:txBody>
          <a:bodyPr/>
          <a:lstStyle/>
          <a:p>
            <a:r>
              <a:rPr lang="en-US" noProof="0" dirty="0"/>
              <a:t>Confidential ML Model Training Architecture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16EF02C-A7E2-0E3F-5ED6-C61245EE3A02}"/>
              </a:ext>
            </a:extLst>
          </p:cNvPr>
          <p:cNvCxnSpPr>
            <a:cxnSpLocks/>
          </p:cNvCxnSpPr>
          <p:nvPr/>
        </p:nvCxnSpPr>
        <p:spPr>
          <a:xfrm>
            <a:off x="6032163" y="1007041"/>
            <a:ext cx="0" cy="5338516"/>
          </a:xfrm>
          <a:prstGeom prst="line">
            <a:avLst/>
          </a:prstGeom>
          <a:ln w="28575" cap="flat" cmpd="sng" algn="ctr">
            <a:gradFill flip="none" rotWithShape="1">
              <a:gsLst>
                <a:gs pos="0">
                  <a:srgbClr val="0070C0"/>
                </a:gs>
                <a:gs pos="69000">
                  <a:srgbClr val="7030A0"/>
                </a:gs>
                <a:gs pos="100000">
                  <a:srgbClr val="D84884"/>
                </a:gs>
              </a:gsLst>
              <a:path path="circle">
                <a:fillToRect l="50000" t="-80000" r="50000" b="180000"/>
              </a:path>
              <a:tileRect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3772AAD-0933-0923-8EC2-1307C77C0A7A}"/>
              </a:ext>
            </a:extLst>
          </p:cNvPr>
          <p:cNvSpPr/>
          <p:nvPr/>
        </p:nvSpPr>
        <p:spPr bwMode="auto">
          <a:xfrm>
            <a:off x="6344166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Key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Management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Service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926316D-52DE-FEB1-9EE5-5F3EC5245338}"/>
              </a:ext>
            </a:extLst>
          </p:cNvPr>
          <p:cNvSpPr/>
          <p:nvPr/>
        </p:nvSpPr>
        <p:spPr bwMode="auto">
          <a:xfrm>
            <a:off x="10269619" y="1007041"/>
            <a:ext cx="1478140" cy="84363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Microsoft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Azure </a:t>
            </a:r>
          </a:p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Attestation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6E373BF-4CCC-EAF9-1BCD-4C55D0053E42}"/>
              </a:ext>
            </a:extLst>
          </p:cNvPr>
          <p:cNvSpPr/>
          <p:nvPr/>
        </p:nvSpPr>
        <p:spPr bwMode="auto">
          <a:xfrm>
            <a:off x="6344166" y="2794323"/>
            <a:ext cx="5135733" cy="2720568"/>
          </a:xfrm>
          <a:prstGeom prst="roundRect">
            <a:avLst>
              <a:gd name="adj" fmla="val 3085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t" anchorCtr="0" compatLnSpc="1">
            <a:prstTxWarp prst="textNoShape">
              <a:avLst/>
            </a:prstTxWarp>
          </a:bodyPr>
          <a:lstStyle/>
          <a:p>
            <a:pPr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accent4"/>
                </a:solidFill>
              </a:rPr>
              <a:t>   Azure Confidential VM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5E961F-DFD0-D654-FDBF-617B7F812141}"/>
              </a:ext>
            </a:extLst>
          </p:cNvPr>
          <p:cNvSpPr/>
          <p:nvPr/>
        </p:nvSpPr>
        <p:spPr bwMode="auto">
          <a:xfrm>
            <a:off x="3038862" y="3570376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Data Encrypt Application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527F6C8-9F69-1178-E90D-011E3C03A353}"/>
              </a:ext>
            </a:extLst>
          </p:cNvPr>
          <p:cNvSpPr/>
          <p:nvPr/>
        </p:nvSpPr>
        <p:spPr bwMode="auto">
          <a:xfrm>
            <a:off x="6513266" y="4601202"/>
            <a:ext cx="4801047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OS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DA5BC71-E5D8-1836-A372-A404EF89FCE9}"/>
              </a:ext>
            </a:extLst>
          </p:cNvPr>
          <p:cNvSpPr/>
          <p:nvPr/>
        </p:nvSpPr>
        <p:spPr bwMode="auto">
          <a:xfrm>
            <a:off x="6513267" y="4983761"/>
            <a:ext cx="4801045" cy="346889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solidFill>
                  <a:sysClr val="windowText" lastClr="000000"/>
                </a:solidFill>
              </a:rPr>
              <a:t>vTPM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71FCC07-6CE4-EBD8-4291-E56DB72731FA}"/>
              </a:ext>
            </a:extLst>
          </p:cNvPr>
          <p:cNvSpPr/>
          <p:nvPr/>
        </p:nvSpPr>
        <p:spPr bwMode="auto">
          <a:xfrm>
            <a:off x="9224925" y="2964009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Secure Key Release Application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FF55EB3-DB99-74D2-C060-78D4FD874466}"/>
              </a:ext>
            </a:extLst>
          </p:cNvPr>
          <p:cNvSpPr/>
          <p:nvPr/>
        </p:nvSpPr>
        <p:spPr bwMode="auto">
          <a:xfrm>
            <a:off x="9224925" y="3888906"/>
            <a:ext cx="2089387" cy="556004"/>
          </a:xfrm>
          <a:prstGeom prst="roundRect">
            <a:avLst>
              <a:gd name="adj" fmla="val 6958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ML Training App 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372B91E3-654B-9CD1-201F-451F9C667B79}"/>
              </a:ext>
            </a:extLst>
          </p:cNvPr>
          <p:cNvSpPr/>
          <p:nvPr/>
        </p:nvSpPr>
        <p:spPr bwMode="auto">
          <a:xfrm>
            <a:off x="6542111" y="3264096"/>
            <a:ext cx="2089387" cy="1180813"/>
          </a:xfrm>
          <a:prstGeom prst="roundRect">
            <a:avLst>
              <a:gd name="adj" fmla="val 6044"/>
            </a:avLst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marL="228594" indent="-228594" defTabSz="124326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CFEB0C2C-6359-09B8-2125-76C4C0DC2D82}"/>
              </a:ext>
            </a:extLst>
          </p:cNvPr>
          <p:cNvSpPr/>
          <p:nvPr/>
        </p:nvSpPr>
        <p:spPr bwMode="auto">
          <a:xfrm>
            <a:off x="6689528" y="3408947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bg1"/>
                </a:solidFill>
              </a:rPr>
              <a:t>Encrypted Data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BEC396F7-E808-1C92-4EB2-CA4B2E6B7AF5}"/>
              </a:ext>
            </a:extLst>
          </p:cNvPr>
          <p:cNvSpPr/>
          <p:nvPr/>
        </p:nvSpPr>
        <p:spPr bwMode="auto">
          <a:xfrm>
            <a:off x="6689526" y="3954841"/>
            <a:ext cx="1794553" cy="345456"/>
          </a:xfrm>
          <a:prstGeom prst="roundRect">
            <a:avLst>
              <a:gd name="adj" fmla="val 6958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bg1"/>
                </a:solidFill>
              </a:rPr>
              <a:t>Wrapped DEK</a:t>
            </a:r>
          </a:p>
        </p:txBody>
      </p: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1887E934-5575-9DD9-122C-EF927CA243EE}"/>
              </a:ext>
            </a:extLst>
          </p:cNvPr>
          <p:cNvCxnSpPr>
            <a:stCxn id="12" idx="2"/>
            <a:endCxn id="25" idx="0"/>
          </p:cNvCxnSpPr>
          <p:nvPr/>
        </p:nvCxnSpPr>
        <p:spPr>
          <a:xfrm rot="16200000" flipH="1">
            <a:off x="8119760" y="814147"/>
            <a:ext cx="1113337" cy="3186383"/>
          </a:xfrm>
          <a:prstGeom prst="bentConnector3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F4C8FE17-60DD-2F9E-175A-04C45FA65B2F}"/>
              </a:ext>
            </a:extLst>
          </p:cNvPr>
          <p:cNvCxnSpPr>
            <a:cxnSpLocks/>
            <a:stCxn id="12" idx="1"/>
            <a:endCxn id="15" idx="0"/>
          </p:cNvCxnSpPr>
          <p:nvPr/>
        </p:nvCxnSpPr>
        <p:spPr>
          <a:xfrm rot="10800000" flipV="1">
            <a:off x="3697014" y="1428856"/>
            <a:ext cx="2647152" cy="2141519"/>
          </a:xfrm>
          <a:prstGeom prst="bentConnector2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FB4C8752-8FAC-7E55-A018-E2EC030FDD7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028405" y="3851911"/>
            <a:ext cx="1010457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E8D28EF3-4D09-C725-0FF9-9EAFD3391D94}"/>
              </a:ext>
            </a:extLst>
          </p:cNvPr>
          <p:cNvCxnSpPr>
            <a:cxnSpLocks/>
            <a:stCxn id="15" idx="3"/>
            <a:endCxn id="58" idx="1"/>
          </p:cNvCxnSpPr>
          <p:nvPr/>
        </p:nvCxnSpPr>
        <p:spPr>
          <a:xfrm>
            <a:off x="4355165" y="3851912"/>
            <a:ext cx="2186946" cy="2591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8DA562CC-1921-AB04-04BC-F70E94125BA6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10082488" y="2037805"/>
            <a:ext cx="1113337" cy="73907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85A27F36-AA4F-6529-A833-4CC10A683E40}"/>
              </a:ext>
            </a:extLst>
          </p:cNvPr>
          <p:cNvCxnSpPr>
            <a:cxnSpLocks/>
            <a:stCxn id="58" idx="3"/>
            <a:endCxn id="25" idx="1"/>
          </p:cNvCxnSpPr>
          <p:nvPr/>
        </p:nvCxnSpPr>
        <p:spPr>
          <a:xfrm flipV="1">
            <a:off x="8631498" y="3242011"/>
            <a:ext cx="593428" cy="61249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36A13EF2-5E4E-1C15-8DA6-052A48454C21}"/>
              </a:ext>
            </a:extLst>
          </p:cNvPr>
          <p:cNvCxnSpPr>
            <a:stCxn id="25" idx="2"/>
            <a:endCxn id="41" idx="0"/>
          </p:cNvCxnSpPr>
          <p:nvPr/>
        </p:nvCxnSpPr>
        <p:spPr>
          <a:xfrm>
            <a:off x="10269619" y="3520012"/>
            <a:ext cx="0" cy="368893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raphic 43">
            <a:extLst>
              <a:ext uri="{FF2B5EF4-FFF2-40B4-BE49-F238E27FC236}">
                <a16:creationId xmlns:a16="http://schemas.microsoft.com/office/drawing/2014/main" id="{BE35131D-29B9-8590-7050-E504959E3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583880" y="8015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107" name="Graphic 43">
            <a:extLst>
              <a:ext uri="{FF2B5EF4-FFF2-40B4-BE49-F238E27FC236}">
                <a16:creationId xmlns:a16="http://schemas.microsoft.com/office/drawing/2014/main" id="{3A772588-3AA8-EF48-7C23-8B914A484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314313" y="2595115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108" name="Graphic 43">
            <a:extLst>
              <a:ext uri="{FF2B5EF4-FFF2-40B4-BE49-F238E27FC236}">
                <a16:creationId xmlns:a16="http://schemas.microsoft.com/office/drawing/2014/main" id="{9B546C66-6270-9A39-D035-5086D162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662130" y="801514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111" name="Title 14">
            <a:extLst>
              <a:ext uri="{FF2B5EF4-FFF2-40B4-BE49-F238E27FC236}">
                <a16:creationId xmlns:a16="http://schemas.microsoft.com/office/drawing/2014/main" id="{6A0630B0-D4A6-5C43-8C2A-D334CEADBC59}"/>
              </a:ext>
            </a:extLst>
          </p:cNvPr>
          <p:cNvSpPr txBox="1">
            <a:spLocks/>
          </p:cNvSpPr>
          <p:nvPr/>
        </p:nvSpPr>
        <p:spPr>
          <a:xfrm>
            <a:off x="3761066" y="5948427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</a:rPr>
              <a:t>Local</a:t>
            </a:r>
          </a:p>
        </p:txBody>
      </p:sp>
      <p:sp>
        <p:nvSpPr>
          <p:cNvPr id="112" name="Title 14">
            <a:extLst>
              <a:ext uri="{FF2B5EF4-FFF2-40B4-BE49-F238E27FC236}">
                <a16:creationId xmlns:a16="http://schemas.microsoft.com/office/drawing/2014/main" id="{D7C57CD4-E821-4042-45B3-E0C9D0E77319}"/>
              </a:ext>
            </a:extLst>
          </p:cNvPr>
          <p:cNvSpPr txBox="1">
            <a:spLocks/>
          </p:cNvSpPr>
          <p:nvPr/>
        </p:nvSpPr>
        <p:spPr>
          <a:xfrm>
            <a:off x="5864645" y="5968747"/>
            <a:ext cx="2166847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2400" kern="1200" spc="-51" dirty="0">
                <a:ln w="3175">
                  <a:noFill/>
                </a:ln>
                <a:gradFill>
                  <a:gsLst>
                    <a:gs pos="52000">
                      <a:srgbClr val="7E50C9"/>
                    </a:gs>
                    <a:gs pos="29000">
                      <a:srgbClr val="3966CF"/>
                    </a:gs>
                    <a:gs pos="100000">
                      <a:srgbClr val="F4364C"/>
                    </a:gs>
                    <a:gs pos="74000">
                      <a:srgbClr val="C03BC4"/>
                    </a:gs>
                    <a:gs pos="0">
                      <a:srgbClr val="399A91"/>
                    </a:gs>
                  </a:gsLst>
                  <a:lin ang="3000000" scaled="0"/>
                </a:gradFill>
                <a:cs typeface="Segoe UI" pitchFamily="34" charset="0"/>
              </a:rPr>
              <a:t>Cloud</a:t>
            </a:r>
          </a:p>
        </p:txBody>
      </p:sp>
      <p:sp>
        <p:nvSpPr>
          <p:cNvPr id="145" name="Title 14">
            <a:extLst>
              <a:ext uri="{FF2B5EF4-FFF2-40B4-BE49-F238E27FC236}">
                <a16:creationId xmlns:a16="http://schemas.microsoft.com/office/drawing/2014/main" id="{CA98A381-C94D-4D2E-85C5-038211A0C58F}"/>
              </a:ext>
            </a:extLst>
          </p:cNvPr>
          <p:cNvSpPr txBox="1">
            <a:spLocks/>
          </p:cNvSpPr>
          <p:nvPr/>
        </p:nvSpPr>
        <p:spPr>
          <a:xfrm>
            <a:off x="1955437" y="4881686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 Unique DEK</a:t>
            </a:r>
          </a:p>
        </p:txBody>
      </p:sp>
      <p:sp>
        <p:nvSpPr>
          <p:cNvPr id="146" name="Title 14">
            <a:extLst>
              <a:ext uri="{FF2B5EF4-FFF2-40B4-BE49-F238E27FC236}">
                <a16:creationId xmlns:a16="http://schemas.microsoft.com/office/drawing/2014/main" id="{11F9606A-3D87-F8F8-6EEE-D82319FCC4B7}"/>
              </a:ext>
            </a:extLst>
          </p:cNvPr>
          <p:cNvSpPr txBox="1">
            <a:spLocks/>
          </p:cNvSpPr>
          <p:nvPr/>
        </p:nvSpPr>
        <p:spPr>
          <a:xfrm>
            <a:off x="3761067" y="1159775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Release KEK</a:t>
            </a:r>
          </a:p>
        </p:txBody>
      </p:sp>
      <p:sp>
        <p:nvSpPr>
          <p:cNvPr id="147" name="Title 14">
            <a:extLst>
              <a:ext uri="{FF2B5EF4-FFF2-40B4-BE49-F238E27FC236}">
                <a16:creationId xmlns:a16="http://schemas.microsoft.com/office/drawing/2014/main" id="{1835A652-ECF4-87F1-7205-150B6DF62D50}"/>
              </a:ext>
            </a:extLst>
          </p:cNvPr>
          <p:cNvSpPr txBox="1">
            <a:spLocks/>
          </p:cNvSpPr>
          <p:nvPr/>
        </p:nvSpPr>
        <p:spPr>
          <a:xfrm>
            <a:off x="4106466" y="3522729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Encrypted Data</a:t>
            </a:r>
          </a:p>
        </p:txBody>
      </p:sp>
      <p:sp>
        <p:nvSpPr>
          <p:cNvPr id="148" name="Title 14">
            <a:extLst>
              <a:ext uri="{FF2B5EF4-FFF2-40B4-BE49-F238E27FC236}">
                <a16:creationId xmlns:a16="http://schemas.microsoft.com/office/drawing/2014/main" id="{6A1ED27B-C641-24FA-9468-F117EED7E949}"/>
              </a:ext>
            </a:extLst>
          </p:cNvPr>
          <p:cNvSpPr txBox="1">
            <a:spLocks/>
          </p:cNvSpPr>
          <p:nvPr/>
        </p:nvSpPr>
        <p:spPr>
          <a:xfrm>
            <a:off x="4122283" y="3939315"/>
            <a:ext cx="2166847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Wrapped DEK</a:t>
            </a:r>
          </a:p>
        </p:txBody>
      </p:sp>
      <p:sp>
        <p:nvSpPr>
          <p:cNvPr id="149" name="Title 14">
            <a:extLst>
              <a:ext uri="{FF2B5EF4-FFF2-40B4-BE49-F238E27FC236}">
                <a16:creationId xmlns:a16="http://schemas.microsoft.com/office/drawing/2014/main" id="{32CB8063-E028-2F85-9CBC-0F32B2B93CC9}"/>
              </a:ext>
            </a:extLst>
          </p:cNvPr>
          <p:cNvSpPr txBox="1">
            <a:spLocks/>
          </p:cNvSpPr>
          <p:nvPr/>
        </p:nvSpPr>
        <p:spPr>
          <a:xfrm>
            <a:off x="9780883" y="1885215"/>
            <a:ext cx="122780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CVM Attestation</a:t>
            </a:r>
          </a:p>
        </p:txBody>
      </p:sp>
      <p:sp>
        <p:nvSpPr>
          <p:cNvPr id="153" name="Title 14">
            <a:extLst>
              <a:ext uri="{FF2B5EF4-FFF2-40B4-BE49-F238E27FC236}">
                <a16:creationId xmlns:a16="http://schemas.microsoft.com/office/drawing/2014/main" id="{EFCD57F0-0115-0DA8-8AF2-37AA6A70ED77}"/>
              </a:ext>
            </a:extLst>
          </p:cNvPr>
          <p:cNvSpPr txBox="1">
            <a:spLocks/>
          </p:cNvSpPr>
          <p:nvPr/>
        </p:nvSpPr>
        <p:spPr>
          <a:xfrm>
            <a:off x="10964195" y="1894925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 Token</a:t>
            </a:r>
          </a:p>
        </p:txBody>
      </p:sp>
      <p:sp>
        <p:nvSpPr>
          <p:cNvPr id="154" name="Title 14">
            <a:extLst>
              <a:ext uri="{FF2B5EF4-FFF2-40B4-BE49-F238E27FC236}">
                <a16:creationId xmlns:a16="http://schemas.microsoft.com/office/drawing/2014/main" id="{420B421D-28EC-905E-FFCD-EDDDE756CE0D}"/>
              </a:ext>
            </a:extLst>
          </p:cNvPr>
          <p:cNvSpPr txBox="1">
            <a:spLocks/>
          </p:cNvSpPr>
          <p:nvPr/>
        </p:nvSpPr>
        <p:spPr>
          <a:xfrm>
            <a:off x="6225954" y="1927327"/>
            <a:ext cx="958565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 Token</a:t>
            </a:r>
          </a:p>
        </p:txBody>
      </p:sp>
      <p:sp>
        <p:nvSpPr>
          <p:cNvPr id="155" name="Title 14">
            <a:extLst>
              <a:ext uri="{FF2B5EF4-FFF2-40B4-BE49-F238E27FC236}">
                <a16:creationId xmlns:a16="http://schemas.microsoft.com/office/drawing/2014/main" id="{C5BA74FB-0A71-3E80-C9C8-EEF0D1CC2C64}"/>
              </a:ext>
            </a:extLst>
          </p:cNvPr>
          <p:cNvSpPr txBox="1">
            <a:spLocks/>
          </p:cNvSpPr>
          <p:nvPr/>
        </p:nvSpPr>
        <p:spPr>
          <a:xfrm>
            <a:off x="7097573" y="1921389"/>
            <a:ext cx="82601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Release KEK</a:t>
            </a:r>
          </a:p>
        </p:txBody>
      </p:sp>
      <p:sp>
        <p:nvSpPr>
          <p:cNvPr id="157" name="Graphic 43">
            <a:extLst>
              <a:ext uri="{FF2B5EF4-FFF2-40B4-BE49-F238E27FC236}">
                <a16:creationId xmlns:a16="http://schemas.microsoft.com/office/drawing/2014/main" id="{6C05B21A-5E12-2FF8-F66B-AF722ED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74428" y="6261371"/>
            <a:ext cx="338881" cy="326738"/>
          </a:xfrm>
          <a:custGeom>
            <a:avLst/>
            <a:gdLst>
              <a:gd name="connsiteX0" fmla="*/ 76200 w 190500"/>
              <a:gd name="connsiteY0" fmla="*/ 0 h 190519"/>
              <a:gd name="connsiteX1" fmla="*/ 114300 w 190500"/>
              <a:gd name="connsiteY1" fmla="*/ 38100 h 190519"/>
              <a:gd name="connsiteX2" fmla="*/ 114300 w 190500"/>
              <a:gd name="connsiteY2" fmla="*/ 57150 h 190519"/>
              <a:gd name="connsiteX3" fmla="*/ 138113 w 190500"/>
              <a:gd name="connsiteY3" fmla="*/ 57150 h 190519"/>
              <a:gd name="connsiteX4" fmla="*/ 152400 w 190500"/>
              <a:gd name="connsiteY4" fmla="*/ 71438 h 190519"/>
              <a:gd name="connsiteX5" fmla="*/ 152400 w 190500"/>
              <a:gd name="connsiteY5" fmla="*/ 85725 h 190519"/>
              <a:gd name="connsiteX6" fmla="*/ 143866 w 190500"/>
              <a:gd name="connsiteY6" fmla="*/ 88859 h 190519"/>
              <a:gd name="connsiteX7" fmla="*/ 142846 w 190500"/>
              <a:gd name="connsiteY7" fmla="*/ 89811 h 190519"/>
              <a:gd name="connsiteX8" fmla="*/ 118110 w 190500"/>
              <a:gd name="connsiteY8" fmla="*/ 101603 h 190519"/>
              <a:gd name="connsiteX9" fmla="*/ 104775 w 190500"/>
              <a:gd name="connsiteY9" fmla="*/ 115091 h 190519"/>
              <a:gd name="connsiteX10" fmla="*/ 104775 w 190500"/>
              <a:gd name="connsiteY10" fmla="*/ 138913 h 190519"/>
              <a:gd name="connsiteX11" fmla="*/ 130302 w 190500"/>
              <a:gd name="connsiteY11" fmla="*/ 190519 h 190519"/>
              <a:gd name="connsiteX12" fmla="*/ 14288 w 190500"/>
              <a:gd name="connsiteY12" fmla="*/ 190500 h 190519"/>
              <a:gd name="connsiteX13" fmla="*/ 0 w 190500"/>
              <a:gd name="connsiteY13" fmla="*/ 176213 h 190519"/>
              <a:gd name="connsiteX14" fmla="*/ 0 w 190500"/>
              <a:gd name="connsiteY14" fmla="*/ 71438 h 190519"/>
              <a:gd name="connsiteX15" fmla="*/ 14288 w 190500"/>
              <a:gd name="connsiteY15" fmla="*/ 57150 h 190519"/>
              <a:gd name="connsiteX16" fmla="*/ 38100 w 190500"/>
              <a:gd name="connsiteY16" fmla="*/ 57150 h 190519"/>
              <a:gd name="connsiteX17" fmla="*/ 38100 w 190500"/>
              <a:gd name="connsiteY17" fmla="*/ 38100 h 190519"/>
              <a:gd name="connsiteX18" fmla="*/ 76200 w 190500"/>
              <a:gd name="connsiteY18" fmla="*/ 0 h 190519"/>
              <a:gd name="connsiteX19" fmla="*/ 155105 w 190500"/>
              <a:gd name="connsiteY19" fmla="*/ 96412 h 190519"/>
              <a:gd name="connsiteX20" fmla="*/ 186690 w 190500"/>
              <a:gd name="connsiteY20" fmla="*/ 111128 h 190519"/>
              <a:gd name="connsiteX21" fmla="*/ 190424 w 190500"/>
              <a:gd name="connsiteY21" fmla="*/ 114290 h 190519"/>
              <a:gd name="connsiteX22" fmla="*/ 190500 w 190500"/>
              <a:gd name="connsiteY22" fmla="*/ 115091 h 190519"/>
              <a:gd name="connsiteX23" fmla="*/ 190500 w 190500"/>
              <a:gd name="connsiteY23" fmla="*/ 138913 h 190519"/>
              <a:gd name="connsiteX24" fmla="*/ 153610 w 190500"/>
              <a:gd name="connsiteY24" fmla="*/ 190300 h 190519"/>
              <a:gd name="connsiteX25" fmla="*/ 151200 w 190500"/>
              <a:gd name="connsiteY25" fmla="*/ 190300 h 190519"/>
              <a:gd name="connsiteX26" fmla="*/ 114338 w 190500"/>
              <a:gd name="connsiteY26" fmla="*/ 141437 h 190519"/>
              <a:gd name="connsiteX27" fmla="*/ 114300 w 190500"/>
              <a:gd name="connsiteY27" fmla="*/ 138922 h 190519"/>
              <a:gd name="connsiteX28" fmla="*/ 114300 w 190500"/>
              <a:gd name="connsiteY28" fmla="*/ 115110 h 190519"/>
              <a:gd name="connsiteX29" fmla="*/ 118110 w 190500"/>
              <a:gd name="connsiteY29" fmla="*/ 111138 h 190519"/>
              <a:gd name="connsiteX30" fmla="*/ 149714 w 190500"/>
              <a:gd name="connsiteY30" fmla="*/ 96422 h 190519"/>
              <a:gd name="connsiteX31" fmla="*/ 154952 w 190500"/>
              <a:gd name="connsiteY31" fmla="*/ 96268 h 190519"/>
              <a:gd name="connsiteX32" fmla="*/ 155105 w 190500"/>
              <a:gd name="connsiteY32" fmla="*/ 96422 h 190519"/>
              <a:gd name="connsiteX33" fmla="*/ 76200 w 190500"/>
              <a:gd name="connsiteY33" fmla="*/ 109538 h 190519"/>
              <a:gd name="connsiteX34" fmla="*/ 61913 w 190500"/>
              <a:gd name="connsiteY34" fmla="*/ 123825 h 190519"/>
              <a:gd name="connsiteX35" fmla="*/ 76200 w 190500"/>
              <a:gd name="connsiteY35" fmla="*/ 138113 h 190519"/>
              <a:gd name="connsiteX36" fmla="*/ 90488 w 190500"/>
              <a:gd name="connsiteY36" fmla="*/ 123825 h 190519"/>
              <a:gd name="connsiteX37" fmla="*/ 76200 w 190500"/>
              <a:gd name="connsiteY37" fmla="*/ 109538 h 190519"/>
              <a:gd name="connsiteX38" fmla="*/ 76200 w 190500"/>
              <a:gd name="connsiteY38" fmla="*/ 19050 h 190519"/>
              <a:gd name="connsiteX39" fmla="*/ 57150 w 190500"/>
              <a:gd name="connsiteY39" fmla="*/ 38100 h 190519"/>
              <a:gd name="connsiteX40" fmla="*/ 57150 w 190500"/>
              <a:gd name="connsiteY40" fmla="*/ 57150 h 190519"/>
              <a:gd name="connsiteX41" fmla="*/ 95250 w 190500"/>
              <a:gd name="connsiteY41" fmla="*/ 57150 h 190519"/>
              <a:gd name="connsiteX42" fmla="*/ 95250 w 190500"/>
              <a:gd name="connsiteY42" fmla="*/ 38100 h 190519"/>
              <a:gd name="connsiteX43" fmla="*/ 76200 w 190500"/>
              <a:gd name="connsiteY43" fmla="*/ 19050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0500" h="190519">
                <a:moveTo>
                  <a:pt x="76200" y="0"/>
                </a:moveTo>
                <a:cubicBezTo>
                  <a:pt x="97242" y="0"/>
                  <a:pt x="114300" y="17058"/>
                  <a:pt x="114300" y="38100"/>
                </a:cubicBezTo>
                <a:lnTo>
                  <a:pt x="114300" y="57150"/>
                </a:lnTo>
                <a:lnTo>
                  <a:pt x="138113" y="57150"/>
                </a:lnTo>
                <a:cubicBezTo>
                  <a:pt x="146003" y="57150"/>
                  <a:pt x="152400" y="63547"/>
                  <a:pt x="152400" y="71438"/>
                </a:cubicBezTo>
                <a:lnTo>
                  <a:pt x="152400" y="85725"/>
                </a:lnTo>
                <a:cubicBezTo>
                  <a:pt x="149362" y="85725"/>
                  <a:pt x="146333" y="86773"/>
                  <a:pt x="143866" y="88859"/>
                </a:cubicBezTo>
                <a:lnTo>
                  <a:pt x="142846" y="89811"/>
                </a:lnTo>
                <a:cubicBezTo>
                  <a:pt x="135112" y="97860"/>
                  <a:pt x="127073" y="101603"/>
                  <a:pt x="118110" y="101603"/>
                </a:cubicBezTo>
                <a:cubicBezTo>
                  <a:pt x="110652" y="101603"/>
                  <a:pt x="104775" y="107728"/>
                  <a:pt x="104775" y="115091"/>
                </a:cubicBezTo>
                <a:lnTo>
                  <a:pt x="104775" y="138913"/>
                </a:lnTo>
                <a:cubicBezTo>
                  <a:pt x="104775" y="161525"/>
                  <a:pt x="113576" y="179108"/>
                  <a:pt x="130302" y="190519"/>
                </a:cubicBezTo>
                <a:lnTo>
                  <a:pt x="14288" y="190500"/>
                </a:lnTo>
                <a:cubicBezTo>
                  <a:pt x="6397" y="190500"/>
                  <a:pt x="0" y="184103"/>
                  <a:pt x="0" y="176213"/>
                </a:cubicBezTo>
                <a:lnTo>
                  <a:pt x="0" y="71438"/>
                </a:lnTo>
                <a:cubicBezTo>
                  <a:pt x="0" y="63547"/>
                  <a:pt x="6397" y="57150"/>
                  <a:pt x="14288" y="57150"/>
                </a:cubicBezTo>
                <a:lnTo>
                  <a:pt x="38100" y="57150"/>
                </a:lnTo>
                <a:lnTo>
                  <a:pt x="38100" y="38100"/>
                </a:lnTo>
                <a:cubicBezTo>
                  <a:pt x="38100" y="17058"/>
                  <a:pt x="55158" y="0"/>
                  <a:pt x="76200" y="0"/>
                </a:cubicBezTo>
                <a:close/>
                <a:moveTo>
                  <a:pt x="155105" y="96412"/>
                </a:moveTo>
                <a:cubicBezTo>
                  <a:pt x="164554" y="106280"/>
                  <a:pt x="175022" y="111128"/>
                  <a:pt x="186690" y="111128"/>
                </a:cubicBezTo>
                <a:cubicBezTo>
                  <a:pt x="188528" y="111128"/>
                  <a:pt x="190071" y="112490"/>
                  <a:pt x="190424" y="114290"/>
                </a:cubicBezTo>
                <a:lnTo>
                  <a:pt x="190500" y="115091"/>
                </a:lnTo>
                <a:lnTo>
                  <a:pt x="190500" y="138913"/>
                </a:lnTo>
                <a:cubicBezTo>
                  <a:pt x="190500" y="164459"/>
                  <a:pt x="177994" y="181832"/>
                  <a:pt x="153610" y="190300"/>
                </a:cubicBezTo>
                <a:cubicBezTo>
                  <a:pt x="152830" y="190571"/>
                  <a:pt x="151980" y="190571"/>
                  <a:pt x="151200" y="190300"/>
                </a:cubicBezTo>
                <a:cubicBezTo>
                  <a:pt x="127616" y="182108"/>
                  <a:pt x="115148" y="165611"/>
                  <a:pt x="114338" y="141437"/>
                </a:cubicBezTo>
                <a:lnTo>
                  <a:pt x="114300" y="138922"/>
                </a:lnTo>
                <a:lnTo>
                  <a:pt x="114300" y="115110"/>
                </a:lnTo>
                <a:cubicBezTo>
                  <a:pt x="114300" y="112919"/>
                  <a:pt x="116015" y="111138"/>
                  <a:pt x="118110" y="111138"/>
                </a:cubicBezTo>
                <a:cubicBezTo>
                  <a:pt x="129759" y="111138"/>
                  <a:pt x="140237" y="106280"/>
                  <a:pt x="149714" y="96422"/>
                </a:cubicBezTo>
                <a:cubicBezTo>
                  <a:pt x="151118" y="94933"/>
                  <a:pt x="153463" y="94864"/>
                  <a:pt x="154952" y="96268"/>
                </a:cubicBezTo>
                <a:cubicBezTo>
                  <a:pt x="155004" y="96318"/>
                  <a:pt x="155056" y="96369"/>
                  <a:pt x="155105" y="96422"/>
                </a:cubicBezTo>
                <a:close/>
                <a:moveTo>
                  <a:pt x="76200" y="109538"/>
                </a:moveTo>
                <a:cubicBezTo>
                  <a:pt x="68309" y="109538"/>
                  <a:pt x="61913" y="115934"/>
                  <a:pt x="61913" y="123825"/>
                </a:cubicBezTo>
                <a:cubicBezTo>
                  <a:pt x="61913" y="131716"/>
                  <a:pt x="68309" y="138113"/>
                  <a:pt x="76200" y="138113"/>
                </a:cubicBezTo>
                <a:cubicBezTo>
                  <a:pt x="84091" y="138113"/>
                  <a:pt x="90488" y="131716"/>
                  <a:pt x="90488" y="123825"/>
                </a:cubicBezTo>
                <a:cubicBezTo>
                  <a:pt x="90488" y="115934"/>
                  <a:pt x="84091" y="109538"/>
                  <a:pt x="76200" y="109538"/>
                </a:cubicBezTo>
                <a:close/>
                <a:moveTo>
                  <a:pt x="76200" y="19050"/>
                </a:moveTo>
                <a:cubicBezTo>
                  <a:pt x="65679" y="19050"/>
                  <a:pt x="57150" y="27579"/>
                  <a:pt x="57150" y="38100"/>
                </a:cubicBezTo>
                <a:lnTo>
                  <a:pt x="57150" y="57150"/>
                </a:lnTo>
                <a:lnTo>
                  <a:pt x="95250" y="57150"/>
                </a:lnTo>
                <a:lnTo>
                  <a:pt x="95250" y="38100"/>
                </a:lnTo>
                <a:cubicBezTo>
                  <a:pt x="95250" y="27579"/>
                  <a:pt x="86721" y="19050"/>
                  <a:pt x="76200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3696" tIns="36739" rIns="183696" bIns="73479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ln w="3175">
                <a:noFill/>
              </a:ln>
              <a:gradFill>
                <a:gsLst>
                  <a:gs pos="0">
                    <a:schemeClr val="bg1"/>
                  </a:gs>
                  <a:gs pos="99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Segoe UI Variable Display Semibold"/>
              <a:cs typeface="Segoe UI"/>
            </a:endParaRPr>
          </a:p>
        </p:txBody>
      </p:sp>
      <p:sp>
        <p:nvSpPr>
          <p:cNvPr id="158" name="Title 14">
            <a:extLst>
              <a:ext uri="{FF2B5EF4-FFF2-40B4-BE49-F238E27FC236}">
                <a16:creationId xmlns:a16="http://schemas.microsoft.com/office/drawing/2014/main" id="{D7B2CC9F-E3C3-02F2-436E-06DEF97076DD}"/>
              </a:ext>
            </a:extLst>
          </p:cNvPr>
          <p:cNvSpPr txBox="1">
            <a:spLocks/>
          </p:cNvSpPr>
          <p:nvPr/>
        </p:nvSpPr>
        <p:spPr>
          <a:xfrm>
            <a:off x="650062" y="6357718"/>
            <a:ext cx="4385404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algn="l" defTabSz="914414">
              <a:defRPr/>
            </a:pPr>
            <a:r>
              <a:rPr lang="en-US" sz="1600" kern="1200" spc="-51" dirty="0">
                <a:ln w="3175">
                  <a:noFill/>
                </a:ln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Services protected by Confidential Computing</a:t>
            </a:r>
          </a:p>
        </p:txBody>
      </p:sp>
      <p:pic>
        <p:nvPicPr>
          <p:cNvPr id="159" name="Graphic 51">
            <a:extLst>
              <a:ext uri="{FF2B5EF4-FFF2-40B4-BE49-F238E27FC236}">
                <a16:creationId xmlns:a16="http://schemas.microsoft.com/office/drawing/2014/main" id="{01144387-25BD-021C-AE49-9ACA26BEF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065" y="896505"/>
            <a:ext cx="293047" cy="293047"/>
          </a:xfrm>
          <a:prstGeom prst="rect">
            <a:avLst/>
          </a:prstGeom>
          <a:effectLst>
            <a:outerShdw blurRad="63500" dist="63500" dir="27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7541DA-B3EB-A60F-4A0B-59B1473F4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43" y="896503"/>
            <a:ext cx="245341" cy="293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628F6C2-D70C-A8A1-54B8-DAA95706EFCB}"/>
              </a:ext>
            </a:extLst>
          </p:cNvPr>
          <p:cNvSpPr/>
          <p:nvPr/>
        </p:nvSpPr>
        <p:spPr bwMode="auto">
          <a:xfrm>
            <a:off x="712102" y="3570376"/>
            <a:ext cx="1316303" cy="563071"/>
          </a:xfrm>
          <a:prstGeom prst="roundRect">
            <a:avLst>
              <a:gd name="adj" fmla="val 6958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83" rIns="0" bIns="62183" numCol="1" rtlCol="0" anchor="ctr" anchorCtr="0" compatLnSpc="1">
            <a:prstTxWarp prst="textNoShape">
              <a:avLst/>
            </a:prstTxWarp>
          </a:bodyPr>
          <a:lstStyle/>
          <a:p>
            <a:pPr algn="ctr" defTabSz="124326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Data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1E6895B-4C15-6918-227A-156075E5D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434" y="3180687"/>
            <a:ext cx="290153" cy="2429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8294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16_Modèle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" id="{607128FB-DEF5-47B6-96B2-C1A4EEB0D63C}" vid="{38B207DA-46B7-4414-AA71-1C42EBDD14E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5017</TotalTime>
  <Words>434</Words>
  <Application>Microsoft Office PowerPoint</Application>
  <PresentationFormat>Grand écran</PresentationFormat>
  <Paragraphs>192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Consolas</vt:lpstr>
      <vt:lpstr>Segoe UI</vt:lpstr>
      <vt:lpstr>Segoe UI Semibold</vt:lpstr>
      <vt:lpstr>Segoe UI Variable Display Semibold</vt:lpstr>
      <vt:lpstr>Wingdings</vt:lpstr>
      <vt:lpstr>2016_Modèle</vt:lpstr>
      <vt:lpstr>Classical GPU Accelerated AI Inferencing Architecture</vt:lpstr>
      <vt:lpstr>Confidential Model Encryption for SKR</vt:lpstr>
      <vt:lpstr>Confidential AI Model Inference with SKR</vt:lpstr>
      <vt:lpstr>Confidential AI Model Inference with SKR</vt:lpstr>
      <vt:lpstr>Confidential GPU Accelerated AI Inferencing Architecture</vt:lpstr>
      <vt:lpstr>Classical Cloud ML Training Architecture</vt:lpstr>
      <vt:lpstr>Confidential Data Encryption for SKR</vt:lpstr>
      <vt:lpstr>Confidential ML Model Training with SKR</vt:lpstr>
      <vt:lpstr>Confidential ML Model Training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Dorian Boucher</dc:creator>
  <cp:lastModifiedBy>Dorian Boucher</cp:lastModifiedBy>
  <cp:revision>3</cp:revision>
  <dcterms:created xsi:type="dcterms:W3CDTF">2025-09-19T10:11:32Z</dcterms:created>
  <dcterms:modified xsi:type="dcterms:W3CDTF">2025-09-23T11:37:44Z</dcterms:modified>
</cp:coreProperties>
</file>